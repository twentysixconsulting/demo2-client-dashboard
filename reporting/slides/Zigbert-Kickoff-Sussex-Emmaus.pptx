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C2B"/>
        </a:solidFill>
        <a:effectLst/>
      </p:bgPr>
    </p:bg>
    <p:spTree>
      <p:nvGrpSpPr>
        <p:cNvPr id="1" name=""/>
        <p:cNvGrpSpPr/>
        <p:nvPr/>
      </p:nvGrpSpPr>
      <p:grpSpPr/>
      <p:sp>
        <p:nvSpPr>
          <p:cNvPr id="2" name="Rectangle 1"/>
          <p:cNvSpPr/>
          <p:nvPr/>
        </p:nvSpPr>
        <p:spPr>
          <a:xfrm>
            <a:off x="0" y="0"/>
            <a:ext cx="310896" cy="68580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zigbert-logo-light.png"/>
          <p:cNvPicPr>
            <a:picLocks noChangeAspect="1"/>
          </p:cNvPicPr>
          <p:nvPr/>
        </p:nvPicPr>
        <p:blipFill>
          <a:blip r:embed="rId2"/>
          <a:stretch>
            <a:fillRect/>
          </a:stretch>
        </p:blipFill>
        <p:spPr>
          <a:xfrm>
            <a:off x="841248" y="777240"/>
            <a:ext cx="2148840" cy="645317"/>
          </a:xfrm>
          <a:prstGeom prst="rect">
            <a:avLst/>
          </a:prstGeom>
        </p:spPr>
      </p:pic>
      <p:sp>
        <p:nvSpPr>
          <p:cNvPr id="4" name="TextBox 3"/>
          <p:cNvSpPr txBox="1"/>
          <p:nvPr/>
        </p:nvSpPr>
        <p:spPr>
          <a:xfrm>
            <a:off x="841248" y="2240280"/>
            <a:ext cx="10874959" cy="274320"/>
          </a:xfrm>
          <a:prstGeom prst="rect">
            <a:avLst/>
          </a:prstGeom>
          <a:noFill/>
        </p:spPr>
        <p:txBody>
          <a:bodyPr wrap="square" anchor="t" lIns="0" rIns="0" tIns="0" bIns="0">
            <a:noAutofit/>
          </a:bodyPr>
          <a:lstStyle/>
          <a:p>
            <a:pPr algn="l">
              <a:lnSpc>
                <a:spcPct val="115000"/>
              </a:lnSpc>
              <a:spcAft>
                <a:spcPts val="0"/>
              </a:spcAft>
            </a:pPr>
            <a:r>
              <a:rPr sz="1200" b="1">
                <a:solidFill>
                  <a:srgbClr val="C9785A"/>
                </a:solidFill>
                <a:latin typeface="Poppins"/>
              </a:rPr>
              <a:t>PILOT ONBOARDING</a:t>
            </a:r>
          </a:p>
        </p:txBody>
      </p:sp>
      <p:sp>
        <p:nvSpPr>
          <p:cNvPr id="5" name="TextBox 4"/>
          <p:cNvSpPr txBox="1"/>
          <p:nvPr/>
        </p:nvSpPr>
        <p:spPr>
          <a:xfrm>
            <a:off x="841248" y="2651760"/>
            <a:ext cx="9509760" cy="1371600"/>
          </a:xfrm>
          <a:prstGeom prst="rect">
            <a:avLst/>
          </a:prstGeom>
          <a:noFill/>
        </p:spPr>
        <p:txBody>
          <a:bodyPr wrap="square" anchor="t" lIns="0" rIns="0" tIns="0" bIns="0">
            <a:noAutofit/>
          </a:bodyPr>
          <a:lstStyle/>
          <a:p>
            <a:pPr algn="l">
              <a:lnSpc>
                <a:spcPct val="115000"/>
              </a:lnSpc>
              <a:spcAft>
                <a:spcPts val="0"/>
              </a:spcAft>
            </a:pPr>
            <a:r>
              <a:rPr sz="4200" b="1">
                <a:solidFill>
                  <a:srgbClr val="FFFFFF"/>
                </a:solidFill>
                <a:latin typeface="Poppins"/>
              </a:rPr>
              <a:t>Sussex Emmaus on Zigbert</a:t>
            </a:r>
          </a:p>
        </p:txBody>
      </p:sp>
      <p:sp>
        <p:nvSpPr>
          <p:cNvPr id="6" name="TextBox 5"/>
          <p:cNvSpPr txBox="1"/>
          <p:nvPr/>
        </p:nvSpPr>
        <p:spPr>
          <a:xfrm>
            <a:off x="841248" y="3886200"/>
            <a:ext cx="8778240" cy="914400"/>
          </a:xfrm>
          <a:prstGeom prst="rect">
            <a:avLst/>
          </a:prstGeom>
          <a:noFill/>
        </p:spPr>
        <p:txBody>
          <a:bodyPr wrap="square" anchor="t" lIns="0" rIns="0" tIns="0" bIns="0">
            <a:noAutofit/>
          </a:bodyPr>
          <a:lstStyle/>
          <a:p>
            <a:pPr algn="l">
              <a:lnSpc>
                <a:spcPct val="135000"/>
              </a:lnSpc>
              <a:spcAft>
                <a:spcPts val="0"/>
              </a:spcAft>
            </a:pPr>
            <a:r>
              <a:rPr sz="1450" b="0">
                <a:solidFill>
                  <a:srgbClr val="B9C1CC"/>
                </a:solidFill>
                <a:latin typeface="Inter"/>
              </a:rPr>
              <a:t>Where we have got to, what happens next, and the three things we need from you.</a:t>
            </a:r>
          </a:p>
        </p:txBody>
      </p:sp>
      <p:sp>
        <p:nvSpPr>
          <p:cNvPr id="7" name="TextBox 6"/>
          <p:cNvSpPr txBox="1"/>
          <p:nvPr/>
        </p:nvSpPr>
        <p:spPr>
          <a:xfrm>
            <a:off x="841248" y="5760720"/>
            <a:ext cx="7315200" cy="274320"/>
          </a:xfrm>
          <a:prstGeom prst="rect">
            <a:avLst/>
          </a:prstGeom>
          <a:noFill/>
        </p:spPr>
        <p:txBody>
          <a:bodyPr wrap="square" anchor="t" lIns="0" rIns="0" tIns="0" bIns="0">
            <a:noAutofit/>
          </a:bodyPr>
          <a:lstStyle/>
          <a:p>
            <a:pPr algn="l">
              <a:lnSpc>
                <a:spcPct val="115000"/>
              </a:lnSpc>
              <a:spcAft>
                <a:spcPts val="0"/>
              </a:spcAft>
            </a:pPr>
            <a:r>
              <a:rPr sz="1100" b="0">
                <a:solidFill>
                  <a:srgbClr val="6E7A8A"/>
                </a:solidFill>
                <a:latin typeface="Inter"/>
              </a:rPr>
              <a:t>TwentySix Consulting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zigbert-logo.png"/>
          <p:cNvPicPr>
            <a:picLocks noChangeAspect="1"/>
          </p:cNvPicPr>
          <p:nvPr/>
        </p:nvPicPr>
        <p:blipFill>
          <a:blip r:embed="rId2"/>
          <a:stretch>
            <a:fillRect/>
          </a:stretch>
        </p:blipFill>
        <p:spPr>
          <a:xfrm>
            <a:off x="10161727" y="365760"/>
            <a:ext cx="1371600" cy="411905"/>
          </a:xfrm>
          <a:prstGeom prst="rect">
            <a:avLst/>
          </a:prstGeom>
        </p:spPr>
      </p:pic>
      <p:sp>
        <p:nvSpPr>
          <p:cNvPr id="4" name="TextBox 3"/>
          <p:cNvSpPr txBox="1"/>
          <p:nvPr/>
        </p:nvSpPr>
        <p:spPr>
          <a:xfrm>
            <a:off x="658368" y="402336"/>
            <a:ext cx="10874959" cy="237744"/>
          </a:xfrm>
          <a:prstGeom prst="rect">
            <a:avLst/>
          </a:prstGeom>
          <a:noFill/>
        </p:spPr>
        <p:txBody>
          <a:bodyPr wrap="square" anchor="t" lIns="0" rIns="0" tIns="0" bIns="0">
            <a:noAutofit/>
          </a:bodyPr>
          <a:lstStyle/>
          <a:p>
            <a:pPr algn="l">
              <a:lnSpc>
                <a:spcPct val="115000"/>
              </a:lnSpc>
              <a:spcAft>
                <a:spcPts val="0"/>
              </a:spcAft>
            </a:pPr>
            <a:r>
              <a:rPr sz="1100" b="1">
                <a:solidFill>
                  <a:srgbClr val="B0603F"/>
                </a:solidFill>
                <a:latin typeface="Poppins"/>
              </a:rPr>
              <a:t>WHERE WE ARE</a:t>
            </a:r>
          </a:p>
        </p:txBody>
      </p:sp>
      <p:sp>
        <p:nvSpPr>
          <p:cNvPr id="5" name="TextBox 4"/>
          <p:cNvSpPr txBox="1"/>
          <p:nvPr/>
        </p:nvSpPr>
        <p:spPr>
          <a:xfrm>
            <a:off x="658368" y="676656"/>
            <a:ext cx="10874959" cy="457200"/>
          </a:xfrm>
          <a:prstGeom prst="rect">
            <a:avLst/>
          </a:prstGeom>
          <a:noFill/>
        </p:spPr>
        <p:txBody>
          <a:bodyPr wrap="square" anchor="t" lIns="0" rIns="0" tIns="0" bIns="0">
            <a:noAutofit/>
          </a:bodyPr>
          <a:lstStyle/>
          <a:p>
            <a:pPr algn="l">
              <a:lnSpc>
                <a:spcPct val="115000"/>
              </a:lnSpc>
              <a:spcAft>
                <a:spcPts val="0"/>
              </a:spcAft>
            </a:pPr>
            <a:r>
              <a:rPr sz="2900" b="1">
                <a:solidFill>
                  <a:srgbClr val="121C2B"/>
                </a:solidFill>
                <a:latin typeface="Poppins"/>
              </a:rPr>
              <a:t>You have given us everything we need</a:t>
            </a:r>
          </a:p>
        </p:txBody>
      </p:sp>
      <p:sp>
        <p:nvSpPr>
          <p:cNvPr id="6" name="TextBox 5"/>
          <p:cNvSpPr txBox="1"/>
          <p:nvPr/>
        </p:nvSpPr>
        <p:spPr>
          <a:xfrm>
            <a:off x="658368" y="1188720"/>
            <a:ext cx="10424160" cy="548640"/>
          </a:xfrm>
          <a:prstGeom prst="rect">
            <a:avLst/>
          </a:prstGeom>
          <a:noFill/>
        </p:spPr>
        <p:txBody>
          <a:bodyPr wrap="square" anchor="t" lIns="0" rIns="0" tIns="0" bIns="0">
            <a:noAutofit/>
          </a:bodyPr>
          <a:lstStyle/>
          <a:p>
            <a:pPr algn="l">
              <a:lnSpc>
                <a:spcPct val="130000"/>
              </a:lnSpc>
              <a:spcAft>
                <a:spcPts val="0"/>
              </a:spcAft>
            </a:pPr>
            <a:r>
              <a:rPr sz="1250" b="0">
                <a:solidFill>
                  <a:srgbClr val="6B7280"/>
                </a:solidFill>
                <a:latin typeface="Inter"/>
              </a:rPr>
              <a:t>You sent over every Sussex Emmaus role with its full-time-equivalent salary and job level, which is the whole of what we need to build the dashboard. One thing to clarify on the levels, coming up in a moment.</a:t>
            </a:r>
          </a:p>
        </p:txBody>
      </p:sp>
      <p:sp>
        <p:nvSpPr>
          <p:cNvPr id="7" name="Rectangle 6"/>
          <p:cNvSpPr/>
          <p:nvPr/>
        </p:nvSpPr>
        <p:spPr>
          <a:xfrm>
            <a:off x="658368" y="1938528"/>
            <a:ext cx="3472586" cy="301752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38528"/>
            <a:ext cx="3472586" cy="50800"/>
          </a:xfrm>
          <a:prstGeom prst="rect">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194560"/>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2F7D5B"/>
                </a:solidFill>
                <a:latin typeface="Poppins"/>
              </a:rPr>
              <a:t>DONE</a:t>
            </a:r>
          </a:p>
        </p:txBody>
      </p:sp>
      <p:sp>
        <p:nvSpPr>
          <p:cNvPr id="10" name="TextBox 9"/>
          <p:cNvSpPr txBox="1"/>
          <p:nvPr/>
        </p:nvSpPr>
        <p:spPr>
          <a:xfrm>
            <a:off x="896112" y="2468880"/>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Roles received</a:t>
            </a:r>
          </a:p>
        </p:txBody>
      </p:sp>
      <p:sp>
        <p:nvSpPr>
          <p:cNvPr id="11" name="TextBox 10"/>
          <p:cNvSpPr txBox="1"/>
          <p:nvPr/>
        </p:nvSpPr>
        <p:spPr>
          <a:xfrm>
            <a:off x="896112" y="2871216"/>
            <a:ext cx="2997098" cy="190195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Every Sussex Emmaus role, with FTE salary and job level.</a:t>
            </a:r>
          </a:p>
          <a:p>
            <a:pPr algn="l">
              <a:lnSpc>
                <a:spcPct val="128000"/>
              </a:lnSpc>
              <a:spcAft>
                <a:spcPts val="700"/>
              </a:spcAft>
            </a:pPr>
            <a:r>
              <a:rPr sz="1150" b="0">
                <a:solidFill>
                  <a:srgbClr val="6B7280"/>
                </a:solidFill>
                <a:latin typeface="Inter"/>
              </a:rPr>
              <a:t>Nothing further needed to start.</a:t>
            </a:r>
          </a:p>
        </p:txBody>
      </p:sp>
      <p:sp>
        <p:nvSpPr>
          <p:cNvPr id="12" name="Rectangle 11"/>
          <p:cNvSpPr/>
          <p:nvPr/>
        </p:nvSpPr>
        <p:spPr>
          <a:xfrm>
            <a:off x="4359554" y="1938528"/>
            <a:ext cx="3472586" cy="301752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9554" y="1938528"/>
            <a:ext cx="3472586" cy="508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2194560"/>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C9785A"/>
                </a:solidFill>
                <a:latin typeface="Poppins"/>
              </a:rPr>
              <a:t>THIS WEEK</a:t>
            </a:r>
          </a:p>
        </p:txBody>
      </p:sp>
      <p:sp>
        <p:nvSpPr>
          <p:cNvPr id="15" name="TextBox 14"/>
          <p:cNvSpPr txBox="1"/>
          <p:nvPr/>
        </p:nvSpPr>
        <p:spPr>
          <a:xfrm>
            <a:off x="4597298" y="2468880"/>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Benchmarking</a:t>
            </a:r>
          </a:p>
        </p:txBody>
      </p:sp>
      <p:sp>
        <p:nvSpPr>
          <p:cNvPr id="16" name="TextBox 15"/>
          <p:cNvSpPr txBox="1"/>
          <p:nvPr/>
        </p:nvSpPr>
        <p:spPr>
          <a:xfrm>
            <a:off x="4597298" y="2871216"/>
            <a:ext cx="2997098" cy="190195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Every role matched and benchmarked against the database.</a:t>
            </a:r>
          </a:p>
          <a:p>
            <a:pPr algn="l">
              <a:lnSpc>
                <a:spcPct val="128000"/>
              </a:lnSpc>
              <a:spcAft>
                <a:spcPts val="700"/>
              </a:spcAft>
            </a:pPr>
            <a:r>
              <a:rPr sz="1150" b="0">
                <a:solidFill>
                  <a:srgbClr val="6B7280"/>
                </a:solidFill>
                <a:latin typeface="Inter"/>
              </a:rPr>
              <a:t>Then reviewed by hand, role by role.</a:t>
            </a:r>
          </a:p>
        </p:txBody>
      </p:sp>
      <p:sp>
        <p:nvSpPr>
          <p:cNvPr id="17" name="Rectangle 16"/>
          <p:cNvSpPr/>
          <p:nvPr/>
        </p:nvSpPr>
        <p:spPr>
          <a:xfrm>
            <a:off x="8060740" y="1938528"/>
            <a:ext cx="3472586" cy="301752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0740" y="1938528"/>
            <a:ext cx="3472586" cy="50800"/>
          </a:xfrm>
          <a:prstGeom prst="rect">
            <a:avLst/>
          </a:prstGeom>
          <a:solidFill>
            <a:srgbClr val="728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484" y="2194560"/>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7285A5"/>
                </a:solidFill>
                <a:latin typeface="Poppins"/>
              </a:rPr>
              <a:t>NEXT WEEK</a:t>
            </a:r>
          </a:p>
        </p:txBody>
      </p:sp>
      <p:sp>
        <p:nvSpPr>
          <p:cNvPr id="20" name="TextBox 19"/>
          <p:cNvSpPr txBox="1"/>
          <p:nvPr/>
        </p:nvSpPr>
        <p:spPr>
          <a:xfrm>
            <a:off x="8298484" y="2468880"/>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Your dashboard</a:t>
            </a:r>
          </a:p>
        </p:txBody>
      </p:sp>
      <p:sp>
        <p:nvSpPr>
          <p:cNvPr id="21" name="TextBox 20"/>
          <p:cNvSpPr txBox="1"/>
          <p:nvPr/>
        </p:nvSpPr>
        <p:spPr>
          <a:xfrm>
            <a:off x="8298484" y="2871216"/>
            <a:ext cx="2997098" cy="190195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Built, reviewed and live.</a:t>
            </a:r>
          </a:p>
          <a:p>
            <a:pPr algn="l">
              <a:lnSpc>
                <a:spcPct val="128000"/>
              </a:lnSpc>
              <a:spcAft>
                <a:spcPts val="700"/>
              </a:spcAft>
            </a:pPr>
            <a:r>
              <a:rPr sz="1150" b="0">
                <a:solidFill>
                  <a:srgbClr val="6B7280"/>
                </a:solidFill>
                <a:latin typeface="Inter"/>
              </a:rPr>
              <a:t>Pay for every role against its market range.</a:t>
            </a:r>
          </a:p>
        </p:txBody>
      </p:sp>
      <p:sp>
        <p:nvSpPr>
          <p:cNvPr id="22" name="TextBox 21"/>
          <p:cNvSpPr txBox="1"/>
          <p:nvPr/>
        </p:nvSpPr>
        <p:spPr>
          <a:xfrm>
            <a:off x="658368" y="6455664"/>
            <a:ext cx="6400800" cy="219456"/>
          </a:xfrm>
          <a:prstGeom prst="rect">
            <a:avLst/>
          </a:prstGeom>
          <a:noFill/>
        </p:spPr>
        <p:txBody>
          <a:bodyPr wrap="square" anchor="t" lIns="0" rIns="0" tIns="0" bIns="0">
            <a:noAutofit/>
          </a:bodyPr>
          <a:lstStyle/>
          <a:p>
            <a:pPr algn="l">
              <a:lnSpc>
                <a:spcPct val="115000"/>
              </a:lnSpc>
              <a:spcAft>
                <a:spcPts val="0"/>
              </a:spcAft>
            </a:pPr>
            <a:r>
              <a:rPr sz="850" b="0">
                <a:solidFill>
                  <a:srgbClr val="9AA1AC"/>
                </a:solidFill>
                <a:latin typeface="Inter"/>
              </a:rPr>
              <a:t>Sussex Emmaus · Zigbert · September 2026</a:t>
            </a:r>
          </a:p>
        </p:txBody>
      </p:sp>
      <p:sp>
        <p:nvSpPr>
          <p:cNvPr id="23" name="TextBox 22"/>
          <p:cNvSpPr txBox="1"/>
          <p:nvPr/>
        </p:nvSpPr>
        <p:spPr>
          <a:xfrm>
            <a:off x="10618927" y="6455664"/>
            <a:ext cx="914400" cy="219456"/>
          </a:xfrm>
          <a:prstGeom prst="rect">
            <a:avLst/>
          </a:prstGeom>
          <a:noFill/>
        </p:spPr>
        <p:txBody>
          <a:bodyPr wrap="square" anchor="t" lIns="0" rIns="0" tIns="0" bIns="0">
            <a:noAutofit/>
          </a:bodyPr>
          <a:lstStyle/>
          <a:p>
            <a:pPr algn="r">
              <a:lnSpc>
                <a:spcPct val="115000"/>
              </a:lnSpc>
              <a:spcAft>
                <a:spcPts val="0"/>
              </a:spcAft>
            </a:pPr>
            <a:r>
              <a:rPr sz="850" b="0">
                <a:solidFill>
                  <a:srgbClr val="9AA1AC"/>
                </a:solidFill>
                <a:latin typeface="Inter"/>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zigbert-logo.png"/>
          <p:cNvPicPr>
            <a:picLocks noChangeAspect="1"/>
          </p:cNvPicPr>
          <p:nvPr/>
        </p:nvPicPr>
        <p:blipFill>
          <a:blip r:embed="rId2"/>
          <a:stretch>
            <a:fillRect/>
          </a:stretch>
        </p:blipFill>
        <p:spPr>
          <a:xfrm>
            <a:off x="10161727" y="365760"/>
            <a:ext cx="1371600" cy="411905"/>
          </a:xfrm>
          <a:prstGeom prst="rect">
            <a:avLst/>
          </a:prstGeom>
        </p:spPr>
      </p:pic>
      <p:sp>
        <p:nvSpPr>
          <p:cNvPr id="4" name="TextBox 3"/>
          <p:cNvSpPr txBox="1"/>
          <p:nvPr/>
        </p:nvSpPr>
        <p:spPr>
          <a:xfrm>
            <a:off x="658368" y="402336"/>
            <a:ext cx="10874959" cy="237744"/>
          </a:xfrm>
          <a:prstGeom prst="rect">
            <a:avLst/>
          </a:prstGeom>
          <a:noFill/>
        </p:spPr>
        <p:txBody>
          <a:bodyPr wrap="square" anchor="t" lIns="0" rIns="0" tIns="0" bIns="0">
            <a:noAutofit/>
          </a:bodyPr>
          <a:lstStyle/>
          <a:p>
            <a:pPr algn="l">
              <a:lnSpc>
                <a:spcPct val="115000"/>
              </a:lnSpc>
              <a:spcAft>
                <a:spcPts val="0"/>
              </a:spcAft>
            </a:pPr>
            <a:r>
              <a:rPr sz="1100" b="1">
                <a:solidFill>
                  <a:srgbClr val="B0603F"/>
                </a:solidFill>
                <a:latin typeface="Poppins"/>
              </a:rPr>
              <a:t>WHAT HAPPENS NEXT</a:t>
            </a:r>
          </a:p>
        </p:txBody>
      </p:sp>
      <p:sp>
        <p:nvSpPr>
          <p:cNvPr id="5" name="TextBox 4"/>
          <p:cNvSpPr txBox="1"/>
          <p:nvPr/>
        </p:nvSpPr>
        <p:spPr>
          <a:xfrm>
            <a:off x="658368" y="676656"/>
            <a:ext cx="10874959" cy="457200"/>
          </a:xfrm>
          <a:prstGeom prst="rect">
            <a:avLst/>
          </a:prstGeom>
          <a:noFill/>
        </p:spPr>
        <p:txBody>
          <a:bodyPr wrap="square" anchor="t" lIns="0" rIns="0" tIns="0" bIns="0">
            <a:noAutofit/>
          </a:bodyPr>
          <a:lstStyle/>
          <a:p>
            <a:pPr algn="l">
              <a:lnSpc>
                <a:spcPct val="115000"/>
              </a:lnSpc>
              <a:spcAft>
                <a:spcPts val="0"/>
              </a:spcAft>
            </a:pPr>
            <a:r>
              <a:rPr sz="2900" b="1">
                <a:solidFill>
                  <a:srgbClr val="121C2B"/>
                </a:solidFill>
                <a:latin typeface="Poppins"/>
              </a:rPr>
              <a:t>What we do with your roles</a:t>
            </a:r>
          </a:p>
        </p:txBody>
      </p:sp>
      <p:sp>
        <p:nvSpPr>
          <p:cNvPr id="6" name="TextBox 5"/>
          <p:cNvSpPr txBox="1"/>
          <p:nvPr/>
        </p:nvSpPr>
        <p:spPr>
          <a:xfrm>
            <a:off x="658368" y="1188720"/>
            <a:ext cx="10424160" cy="548640"/>
          </a:xfrm>
          <a:prstGeom prst="rect">
            <a:avLst/>
          </a:prstGeom>
          <a:noFill/>
        </p:spPr>
        <p:txBody>
          <a:bodyPr wrap="square" anchor="t" lIns="0" rIns="0" tIns="0" bIns="0">
            <a:noAutofit/>
          </a:bodyPr>
          <a:lstStyle/>
          <a:p>
            <a:pPr algn="l">
              <a:lnSpc>
                <a:spcPct val="130000"/>
              </a:lnSpc>
              <a:spcAft>
                <a:spcPts val="0"/>
              </a:spcAft>
            </a:pPr>
            <a:r>
              <a:rPr sz="1250" b="0">
                <a:solidFill>
                  <a:srgbClr val="6B7280"/>
                </a:solidFill>
                <a:latin typeface="Inter"/>
              </a:rPr>
              <a:t>Three steps, all on our side. The output is a market range for every role you have sent us, and a clear read on where each one sits against it.</a:t>
            </a:r>
          </a:p>
        </p:txBody>
      </p:sp>
      <p:sp>
        <p:nvSpPr>
          <p:cNvPr id="7" name="Rectangle 6"/>
          <p:cNvSpPr/>
          <p:nvPr/>
        </p:nvSpPr>
        <p:spPr>
          <a:xfrm>
            <a:off x="658368" y="1938528"/>
            <a:ext cx="3472586" cy="237744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38528"/>
            <a:ext cx="3472586" cy="508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194560"/>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C9785A"/>
                </a:solidFill>
                <a:latin typeface="Poppins"/>
              </a:rPr>
              <a:t>STEP ONE</a:t>
            </a:r>
          </a:p>
        </p:txBody>
      </p:sp>
      <p:sp>
        <p:nvSpPr>
          <p:cNvPr id="10" name="TextBox 9"/>
          <p:cNvSpPr txBox="1"/>
          <p:nvPr/>
        </p:nvSpPr>
        <p:spPr>
          <a:xfrm>
            <a:off x="896112" y="2468880"/>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Match each role</a:t>
            </a:r>
          </a:p>
        </p:txBody>
      </p:sp>
      <p:sp>
        <p:nvSpPr>
          <p:cNvPr id="11" name="TextBox 10"/>
          <p:cNvSpPr txBox="1"/>
          <p:nvPr/>
        </p:nvSpPr>
        <p:spPr>
          <a:xfrm>
            <a:off x="896112" y="2871216"/>
            <a:ext cx="2997098" cy="126187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On function, job level, industry and location.</a:t>
            </a:r>
          </a:p>
          <a:p>
            <a:pPr algn="l">
              <a:lnSpc>
                <a:spcPct val="128000"/>
              </a:lnSpc>
              <a:spcAft>
                <a:spcPts val="700"/>
              </a:spcAft>
            </a:pPr>
            <a:r>
              <a:rPr sz="1150" b="0">
                <a:solidFill>
                  <a:srgbClr val="6B7280"/>
                </a:solidFill>
                <a:latin typeface="Inter"/>
              </a:rPr>
              <a:t>Job title on its own is not enough to go on.</a:t>
            </a:r>
          </a:p>
        </p:txBody>
      </p:sp>
      <p:sp>
        <p:nvSpPr>
          <p:cNvPr id="12" name="Rectangle 11"/>
          <p:cNvSpPr/>
          <p:nvPr/>
        </p:nvSpPr>
        <p:spPr>
          <a:xfrm>
            <a:off x="4359554" y="1938528"/>
            <a:ext cx="3472586" cy="237744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9554" y="1938528"/>
            <a:ext cx="3472586" cy="508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2194560"/>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C9785A"/>
                </a:solidFill>
                <a:latin typeface="Poppins"/>
              </a:rPr>
              <a:t>STEP TWO</a:t>
            </a:r>
          </a:p>
        </p:txBody>
      </p:sp>
      <p:sp>
        <p:nvSpPr>
          <p:cNvPr id="15" name="TextBox 14"/>
          <p:cNvSpPr txBox="1"/>
          <p:nvPr/>
        </p:nvSpPr>
        <p:spPr>
          <a:xfrm>
            <a:off x="4597298" y="2468880"/>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Benchmark it</a:t>
            </a:r>
          </a:p>
        </p:txBody>
      </p:sp>
      <p:sp>
        <p:nvSpPr>
          <p:cNvPr id="16" name="TextBox 15"/>
          <p:cNvSpPr txBox="1"/>
          <p:nvPr/>
        </p:nvSpPr>
        <p:spPr>
          <a:xfrm>
            <a:off x="4597298" y="2871216"/>
            <a:ext cx="2997098" cy="126187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Against over 1.5 million UK salary records taken from live job adverts.</a:t>
            </a:r>
          </a:p>
          <a:p>
            <a:pPr algn="l">
              <a:lnSpc>
                <a:spcPct val="128000"/>
              </a:lnSpc>
              <a:spcAft>
                <a:spcPts val="700"/>
              </a:spcAft>
            </a:pPr>
            <a:r>
              <a:rPr sz="1150" b="0">
                <a:solidFill>
                  <a:srgbClr val="6B7280"/>
                </a:solidFill>
                <a:latin typeface="Inter"/>
              </a:rPr>
              <a:t>The database is refreshed every month.</a:t>
            </a:r>
          </a:p>
        </p:txBody>
      </p:sp>
      <p:sp>
        <p:nvSpPr>
          <p:cNvPr id="17" name="Rectangle 16"/>
          <p:cNvSpPr/>
          <p:nvPr/>
        </p:nvSpPr>
        <p:spPr>
          <a:xfrm>
            <a:off x="8060740" y="1938528"/>
            <a:ext cx="3472586" cy="237744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0740" y="1938528"/>
            <a:ext cx="3472586" cy="508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484" y="2194560"/>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C9785A"/>
                </a:solidFill>
                <a:latin typeface="Poppins"/>
              </a:rPr>
              <a:t>STEP THREE</a:t>
            </a:r>
          </a:p>
        </p:txBody>
      </p:sp>
      <p:sp>
        <p:nvSpPr>
          <p:cNvPr id="20" name="TextBox 19"/>
          <p:cNvSpPr txBox="1"/>
          <p:nvPr/>
        </p:nvSpPr>
        <p:spPr>
          <a:xfrm>
            <a:off x="8298484" y="2468880"/>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A specialist reviews it</a:t>
            </a:r>
          </a:p>
        </p:txBody>
      </p:sp>
      <p:sp>
        <p:nvSpPr>
          <p:cNvPr id="21" name="TextBox 20"/>
          <p:cNvSpPr txBox="1"/>
          <p:nvPr/>
        </p:nvSpPr>
        <p:spPr>
          <a:xfrm>
            <a:off x="8298484" y="2871216"/>
            <a:ext cx="2997098" cy="126187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One of our reward specialists checks the result by hand.</a:t>
            </a:r>
          </a:p>
          <a:p>
            <a:pPr algn="l">
              <a:lnSpc>
                <a:spcPct val="128000"/>
              </a:lnSpc>
              <a:spcAft>
                <a:spcPts val="700"/>
              </a:spcAft>
            </a:pPr>
            <a:r>
              <a:rPr sz="1150" b="0">
                <a:solidFill>
                  <a:srgbClr val="6B7280"/>
                </a:solidFill>
                <a:latin typeface="Inter"/>
              </a:rPr>
              <a:t>Nothing reaches you that a person has not signed off.</a:t>
            </a:r>
          </a:p>
        </p:txBody>
      </p:sp>
      <p:sp>
        <p:nvSpPr>
          <p:cNvPr id="22" name="Rectangle 21"/>
          <p:cNvSpPr/>
          <p:nvPr/>
        </p:nvSpPr>
        <p:spPr>
          <a:xfrm>
            <a:off x="658368" y="4544568"/>
            <a:ext cx="10874959" cy="1170432"/>
          </a:xfrm>
          <a:prstGeom prst="rect">
            <a:avLst/>
          </a:prstGeom>
          <a:solidFill>
            <a:srgbClr val="E8D8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4544568"/>
            <a:ext cx="50800" cy="1170432"/>
          </a:xfrm>
          <a:prstGeom prst="rect">
            <a:avLst/>
          </a:prstGeom>
          <a:solidFill>
            <a:srgbClr val="B0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 y="4727448"/>
            <a:ext cx="10607040" cy="274320"/>
          </a:xfrm>
          <a:prstGeom prst="rect">
            <a:avLst/>
          </a:prstGeom>
          <a:noFill/>
        </p:spPr>
        <p:txBody>
          <a:bodyPr wrap="square" anchor="t" lIns="0" rIns="0" tIns="0" bIns="0">
            <a:noAutofit/>
          </a:bodyPr>
          <a:lstStyle/>
          <a:p>
            <a:pPr algn="l">
              <a:lnSpc>
                <a:spcPct val="115000"/>
              </a:lnSpc>
              <a:spcAft>
                <a:spcPts val="0"/>
              </a:spcAft>
            </a:pPr>
            <a:r>
              <a:rPr sz="1450" b="1">
                <a:solidFill>
                  <a:srgbClr val="121C2B"/>
                </a:solidFill>
                <a:latin typeface="Poppins"/>
              </a:rPr>
              <a:t>What you end up with, for every single role</a:t>
            </a:r>
          </a:p>
        </p:txBody>
      </p:sp>
      <p:sp>
        <p:nvSpPr>
          <p:cNvPr id="25" name="TextBox 24"/>
          <p:cNvSpPr txBox="1"/>
          <p:nvPr/>
        </p:nvSpPr>
        <p:spPr>
          <a:xfrm>
            <a:off x="950976" y="5093208"/>
            <a:ext cx="10607040" cy="457200"/>
          </a:xfrm>
          <a:prstGeom prst="rect">
            <a:avLst/>
          </a:prstGeom>
          <a:noFill/>
        </p:spPr>
        <p:txBody>
          <a:bodyPr wrap="square" anchor="t" lIns="0" rIns="0" tIns="0" bIns="0">
            <a:noAutofit/>
          </a:bodyPr>
          <a:lstStyle/>
          <a:p>
            <a:pPr algn="l">
              <a:lnSpc>
                <a:spcPct val="130000"/>
              </a:lnSpc>
              <a:spcAft>
                <a:spcPts val="0"/>
              </a:spcAft>
            </a:pPr>
            <a:r>
              <a:rPr sz="1200" b="0">
                <a:solidFill>
                  <a:srgbClr val="6B4436"/>
                </a:solidFill>
                <a:latin typeface="Inter"/>
              </a:rPr>
              <a:t>A lower quartile, a median and an upper quartile for the market, and where the current Sussex Emmaus salary sits against them. All of it uploaded into the dashboard.</a:t>
            </a:r>
          </a:p>
        </p:txBody>
      </p:sp>
      <p:sp>
        <p:nvSpPr>
          <p:cNvPr id="26" name="TextBox 25"/>
          <p:cNvSpPr txBox="1"/>
          <p:nvPr/>
        </p:nvSpPr>
        <p:spPr>
          <a:xfrm>
            <a:off x="658368" y="6455664"/>
            <a:ext cx="6400800" cy="219456"/>
          </a:xfrm>
          <a:prstGeom prst="rect">
            <a:avLst/>
          </a:prstGeom>
          <a:noFill/>
        </p:spPr>
        <p:txBody>
          <a:bodyPr wrap="square" anchor="t" lIns="0" rIns="0" tIns="0" bIns="0">
            <a:noAutofit/>
          </a:bodyPr>
          <a:lstStyle/>
          <a:p>
            <a:pPr algn="l">
              <a:lnSpc>
                <a:spcPct val="115000"/>
              </a:lnSpc>
              <a:spcAft>
                <a:spcPts val="0"/>
              </a:spcAft>
            </a:pPr>
            <a:r>
              <a:rPr sz="850" b="0">
                <a:solidFill>
                  <a:srgbClr val="9AA1AC"/>
                </a:solidFill>
                <a:latin typeface="Inter"/>
              </a:rPr>
              <a:t>Sussex Emmaus · Zigbert · September 2026</a:t>
            </a:r>
          </a:p>
        </p:txBody>
      </p:sp>
      <p:sp>
        <p:nvSpPr>
          <p:cNvPr id="27" name="TextBox 26"/>
          <p:cNvSpPr txBox="1"/>
          <p:nvPr/>
        </p:nvSpPr>
        <p:spPr>
          <a:xfrm>
            <a:off x="10618927" y="6455664"/>
            <a:ext cx="914400" cy="219456"/>
          </a:xfrm>
          <a:prstGeom prst="rect">
            <a:avLst/>
          </a:prstGeom>
          <a:noFill/>
        </p:spPr>
        <p:txBody>
          <a:bodyPr wrap="square" anchor="t" lIns="0" rIns="0" tIns="0" bIns="0">
            <a:noAutofit/>
          </a:bodyPr>
          <a:lstStyle/>
          <a:p>
            <a:pPr algn="r">
              <a:lnSpc>
                <a:spcPct val="115000"/>
              </a:lnSpc>
              <a:spcAft>
                <a:spcPts val="0"/>
              </a:spcAft>
            </a:pPr>
            <a:r>
              <a:rPr sz="850" b="0">
                <a:solidFill>
                  <a:srgbClr val="9AA1AC"/>
                </a:solidFill>
                <a:latin typeface="Inter"/>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zigbert-logo.png"/>
          <p:cNvPicPr>
            <a:picLocks noChangeAspect="1"/>
          </p:cNvPicPr>
          <p:nvPr/>
        </p:nvPicPr>
        <p:blipFill>
          <a:blip r:embed="rId2"/>
          <a:stretch>
            <a:fillRect/>
          </a:stretch>
        </p:blipFill>
        <p:spPr>
          <a:xfrm>
            <a:off x="10161727" y="365760"/>
            <a:ext cx="1371600" cy="411905"/>
          </a:xfrm>
          <a:prstGeom prst="rect">
            <a:avLst/>
          </a:prstGeom>
        </p:spPr>
      </p:pic>
      <p:sp>
        <p:nvSpPr>
          <p:cNvPr id="4" name="TextBox 3"/>
          <p:cNvSpPr txBox="1"/>
          <p:nvPr/>
        </p:nvSpPr>
        <p:spPr>
          <a:xfrm>
            <a:off x="658368" y="402336"/>
            <a:ext cx="10874959" cy="237744"/>
          </a:xfrm>
          <a:prstGeom prst="rect">
            <a:avLst/>
          </a:prstGeom>
          <a:noFill/>
        </p:spPr>
        <p:txBody>
          <a:bodyPr wrap="square" anchor="t" lIns="0" rIns="0" tIns="0" bIns="0">
            <a:noAutofit/>
          </a:bodyPr>
          <a:lstStyle/>
          <a:p>
            <a:pPr algn="l">
              <a:lnSpc>
                <a:spcPct val="115000"/>
              </a:lnSpc>
              <a:spcAft>
                <a:spcPts val="0"/>
              </a:spcAft>
            </a:pPr>
            <a:r>
              <a:rPr sz="1100" b="1">
                <a:solidFill>
                  <a:srgbClr val="B0603F"/>
                </a:solidFill>
                <a:latin typeface="Poppins"/>
              </a:rPr>
              <a:t>ONE THING TO PIN DOWN</a:t>
            </a:r>
          </a:p>
        </p:txBody>
      </p:sp>
      <p:sp>
        <p:nvSpPr>
          <p:cNvPr id="5" name="TextBox 4"/>
          <p:cNvSpPr txBox="1"/>
          <p:nvPr/>
        </p:nvSpPr>
        <p:spPr>
          <a:xfrm>
            <a:off x="658368" y="676656"/>
            <a:ext cx="10874959" cy="457200"/>
          </a:xfrm>
          <a:prstGeom prst="rect">
            <a:avLst/>
          </a:prstGeom>
          <a:noFill/>
        </p:spPr>
        <p:txBody>
          <a:bodyPr wrap="square" anchor="t" lIns="0" rIns="0" tIns="0" bIns="0">
            <a:noAutofit/>
          </a:bodyPr>
          <a:lstStyle/>
          <a:p>
            <a:pPr algn="l">
              <a:lnSpc>
                <a:spcPct val="115000"/>
              </a:lnSpc>
              <a:spcAft>
                <a:spcPts val="0"/>
              </a:spcAft>
            </a:pPr>
            <a:r>
              <a:rPr sz="2900" b="1">
                <a:solidFill>
                  <a:srgbClr val="121C2B"/>
                </a:solidFill>
                <a:latin typeface="Poppins"/>
              </a:rPr>
              <a:t>What do your levels 1 to 4 mean?</a:t>
            </a:r>
          </a:p>
        </p:txBody>
      </p:sp>
      <p:sp>
        <p:nvSpPr>
          <p:cNvPr id="6" name="TextBox 5"/>
          <p:cNvSpPr txBox="1"/>
          <p:nvPr/>
        </p:nvSpPr>
        <p:spPr>
          <a:xfrm>
            <a:off x="658368" y="1188720"/>
            <a:ext cx="10424160" cy="548640"/>
          </a:xfrm>
          <a:prstGeom prst="rect">
            <a:avLst/>
          </a:prstGeom>
          <a:noFill/>
        </p:spPr>
        <p:txBody>
          <a:bodyPr wrap="square" anchor="t" lIns="0" rIns="0" tIns="0" bIns="0">
            <a:noAutofit/>
          </a:bodyPr>
          <a:lstStyle/>
          <a:p>
            <a:pPr algn="l">
              <a:lnSpc>
                <a:spcPct val="130000"/>
              </a:lnSpc>
              <a:spcAft>
                <a:spcPts val="0"/>
              </a:spcAft>
            </a:pPr>
            <a:r>
              <a:rPr sz="1250" b="0">
                <a:solidFill>
                  <a:srgbClr val="6B7280"/>
                </a:solidFill>
                <a:latin typeface="Inter"/>
              </a:rPr>
              <a:t>The Sussex Emmaus file has job levels 1, 2, 3 and 4 with no definitions attached. Job level is one of the four things we match on, and it moves the comparator group more than any of the others, so it is worth thirty seconds now.</a:t>
            </a:r>
          </a:p>
        </p:txBody>
      </p:sp>
      <p:sp>
        <p:nvSpPr>
          <p:cNvPr id="7" name="Rectangle 6"/>
          <p:cNvSpPr/>
          <p:nvPr/>
        </p:nvSpPr>
        <p:spPr>
          <a:xfrm>
            <a:off x="658368" y="2157984"/>
            <a:ext cx="5532120" cy="315468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157984"/>
            <a:ext cx="5532120" cy="50800"/>
          </a:xfrm>
          <a:prstGeom prst="rect">
            <a:avLst/>
          </a:prstGeom>
          <a:solidFill>
            <a:srgbClr val="728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95728"/>
            <a:ext cx="5029200" cy="274320"/>
          </a:xfrm>
          <a:prstGeom prst="rect">
            <a:avLst/>
          </a:prstGeom>
          <a:noFill/>
        </p:spPr>
        <p:txBody>
          <a:bodyPr wrap="square" anchor="t" lIns="0" rIns="0" tIns="0" bIns="0">
            <a:noAutofit/>
          </a:bodyPr>
          <a:lstStyle/>
          <a:p>
            <a:pPr algn="l">
              <a:lnSpc>
                <a:spcPct val="115000"/>
              </a:lnSpc>
              <a:spcAft>
                <a:spcPts val="0"/>
              </a:spcAft>
            </a:pPr>
            <a:r>
              <a:rPr sz="950" b="1">
                <a:solidFill>
                  <a:srgbClr val="7285A5"/>
                </a:solidFill>
                <a:latin typeface="Poppins"/>
              </a:rPr>
              <a:t>HOW OUR NUMBERING RUNS</a:t>
            </a:r>
          </a:p>
        </p:txBody>
      </p:sp>
      <p:sp>
        <p:nvSpPr>
          <p:cNvPr id="10" name="TextBox 9"/>
          <p:cNvSpPr txBox="1"/>
          <p:nvPr/>
        </p:nvSpPr>
        <p:spPr>
          <a:xfrm>
            <a:off x="914400" y="2761488"/>
            <a:ext cx="365760" cy="256032"/>
          </a:xfrm>
          <a:prstGeom prst="rect">
            <a:avLst/>
          </a:prstGeom>
          <a:noFill/>
        </p:spPr>
        <p:txBody>
          <a:bodyPr wrap="square" anchor="t" lIns="0" rIns="0" tIns="0" bIns="0">
            <a:noAutofit/>
          </a:bodyPr>
          <a:lstStyle/>
          <a:p>
            <a:pPr algn="l">
              <a:lnSpc>
                <a:spcPct val="115000"/>
              </a:lnSpc>
              <a:spcAft>
                <a:spcPts val="0"/>
              </a:spcAft>
            </a:pPr>
            <a:r>
              <a:rPr sz="1400" b="1">
                <a:solidFill>
                  <a:srgbClr val="C9785A"/>
                </a:solidFill>
                <a:latin typeface="Poppins"/>
              </a:rPr>
              <a:t>1</a:t>
            </a:r>
          </a:p>
        </p:txBody>
      </p:sp>
      <p:sp>
        <p:nvSpPr>
          <p:cNvPr id="11" name="TextBox 10"/>
          <p:cNvSpPr txBox="1"/>
          <p:nvPr/>
        </p:nvSpPr>
        <p:spPr>
          <a:xfrm>
            <a:off x="1316736" y="2779776"/>
            <a:ext cx="2011680" cy="256032"/>
          </a:xfrm>
          <a:prstGeom prst="rect">
            <a:avLst/>
          </a:prstGeom>
          <a:noFill/>
        </p:spPr>
        <p:txBody>
          <a:bodyPr wrap="square" anchor="t" lIns="0" rIns="0" tIns="0" bIns="0">
            <a:noAutofit/>
          </a:bodyPr>
          <a:lstStyle/>
          <a:p>
            <a:pPr algn="l">
              <a:lnSpc>
                <a:spcPct val="115000"/>
              </a:lnSpc>
              <a:spcAft>
                <a:spcPts val="0"/>
              </a:spcAft>
            </a:pPr>
            <a:r>
              <a:rPr sz="1300" b="1">
                <a:solidFill>
                  <a:srgbClr val="121C2B"/>
                </a:solidFill>
                <a:latin typeface="Inter"/>
              </a:rPr>
              <a:t>Director</a:t>
            </a:r>
          </a:p>
        </p:txBody>
      </p:sp>
      <p:sp>
        <p:nvSpPr>
          <p:cNvPr id="12" name="TextBox 11"/>
          <p:cNvSpPr txBox="1"/>
          <p:nvPr/>
        </p:nvSpPr>
        <p:spPr>
          <a:xfrm>
            <a:off x="3355848" y="2798064"/>
            <a:ext cx="2560320" cy="256032"/>
          </a:xfrm>
          <a:prstGeom prst="rect">
            <a:avLst/>
          </a:prstGeom>
          <a:noFill/>
        </p:spPr>
        <p:txBody>
          <a:bodyPr wrap="square" anchor="t" lIns="0" rIns="0" tIns="0" bIns="0">
            <a:noAutofit/>
          </a:bodyPr>
          <a:lstStyle/>
          <a:p>
            <a:pPr algn="l">
              <a:lnSpc>
                <a:spcPct val="115000"/>
              </a:lnSpc>
              <a:spcAft>
                <a:spcPts val="0"/>
              </a:spcAft>
            </a:pPr>
            <a:r>
              <a:rPr sz="1150" b="0">
                <a:solidFill>
                  <a:srgbClr val="9AA1AC"/>
                </a:solidFill>
                <a:latin typeface="Inter"/>
              </a:rPr>
              <a:t>most senior</a:t>
            </a:r>
          </a:p>
        </p:txBody>
      </p:sp>
      <p:sp>
        <p:nvSpPr>
          <p:cNvPr id="13" name="TextBox 12"/>
          <p:cNvSpPr txBox="1"/>
          <p:nvPr/>
        </p:nvSpPr>
        <p:spPr>
          <a:xfrm>
            <a:off x="914400" y="3236976"/>
            <a:ext cx="365760" cy="256032"/>
          </a:xfrm>
          <a:prstGeom prst="rect">
            <a:avLst/>
          </a:prstGeom>
          <a:noFill/>
        </p:spPr>
        <p:txBody>
          <a:bodyPr wrap="square" anchor="t" lIns="0" rIns="0" tIns="0" bIns="0">
            <a:noAutofit/>
          </a:bodyPr>
          <a:lstStyle/>
          <a:p>
            <a:pPr algn="l">
              <a:lnSpc>
                <a:spcPct val="115000"/>
              </a:lnSpc>
              <a:spcAft>
                <a:spcPts val="0"/>
              </a:spcAft>
            </a:pPr>
            <a:r>
              <a:rPr sz="1400" b="1">
                <a:solidFill>
                  <a:srgbClr val="C9785A"/>
                </a:solidFill>
                <a:latin typeface="Poppins"/>
              </a:rPr>
              <a:t>2</a:t>
            </a:r>
          </a:p>
        </p:txBody>
      </p:sp>
      <p:sp>
        <p:nvSpPr>
          <p:cNvPr id="14" name="TextBox 13"/>
          <p:cNvSpPr txBox="1"/>
          <p:nvPr/>
        </p:nvSpPr>
        <p:spPr>
          <a:xfrm>
            <a:off x="1316736" y="3255264"/>
            <a:ext cx="2011680" cy="256032"/>
          </a:xfrm>
          <a:prstGeom prst="rect">
            <a:avLst/>
          </a:prstGeom>
          <a:noFill/>
        </p:spPr>
        <p:txBody>
          <a:bodyPr wrap="square" anchor="t" lIns="0" rIns="0" tIns="0" bIns="0">
            <a:noAutofit/>
          </a:bodyPr>
          <a:lstStyle/>
          <a:p>
            <a:pPr algn="l">
              <a:lnSpc>
                <a:spcPct val="115000"/>
              </a:lnSpc>
              <a:spcAft>
                <a:spcPts val="0"/>
              </a:spcAft>
            </a:pPr>
            <a:r>
              <a:rPr sz="1300" b="1">
                <a:solidFill>
                  <a:srgbClr val="121C2B"/>
                </a:solidFill>
                <a:latin typeface="Inter"/>
              </a:rPr>
              <a:t>Senior</a:t>
            </a:r>
          </a:p>
        </p:txBody>
      </p:sp>
      <p:sp>
        <p:nvSpPr>
          <p:cNvPr id="15" name="TextBox 14"/>
          <p:cNvSpPr txBox="1"/>
          <p:nvPr/>
        </p:nvSpPr>
        <p:spPr>
          <a:xfrm>
            <a:off x="914400" y="3712464"/>
            <a:ext cx="365760" cy="256032"/>
          </a:xfrm>
          <a:prstGeom prst="rect">
            <a:avLst/>
          </a:prstGeom>
          <a:noFill/>
        </p:spPr>
        <p:txBody>
          <a:bodyPr wrap="square" anchor="t" lIns="0" rIns="0" tIns="0" bIns="0">
            <a:noAutofit/>
          </a:bodyPr>
          <a:lstStyle/>
          <a:p>
            <a:pPr algn="l">
              <a:lnSpc>
                <a:spcPct val="115000"/>
              </a:lnSpc>
              <a:spcAft>
                <a:spcPts val="0"/>
              </a:spcAft>
            </a:pPr>
            <a:r>
              <a:rPr sz="1400" b="1">
                <a:solidFill>
                  <a:srgbClr val="C9785A"/>
                </a:solidFill>
                <a:latin typeface="Poppins"/>
              </a:rPr>
              <a:t>3</a:t>
            </a:r>
          </a:p>
        </p:txBody>
      </p:sp>
      <p:sp>
        <p:nvSpPr>
          <p:cNvPr id="16" name="TextBox 15"/>
          <p:cNvSpPr txBox="1"/>
          <p:nvPr/>
        </p:nvSpPr>
        <p:spPr>
          <a:xfrm>
            <a:off x="1316736" y="3730752"/>
            <a:ext cx="2011680" cy="256032"/>
          </a:xfrm>
          <a:prstGeom prst="rect">
            <a:avLst/>
          </a:prstGeom>
          <a:noFill/>
        </p:spPr>
        <p:txBody>
          <a:bodyPr wrap="square" anchor="t" lIns="0" rIns="0" tIns="0" bIns="0">
            <a:noAutofit/>
          </a:bodyPr>
          <a:lstStyle/>
          <a:p>
            <a:pPr algn="l">
              <a:lnSpc>
                <a:spcPct val="115000"/>
              </a:lnSpc>
              <a:spcAft>
                <a:spcPts val="0"/>
              </a:spcAft>
            </a:pPr>
            <a:r>
              <a:rPr sz="1300" b="1">
                <a:solidFill>
                  <a:srgbClr val="121C2B"/>
                </a:solidFill>
                <a:latin typeface="Inter"/>
              </a:rPr>
              <a:t>Practitioner</a:t>
            </a:r>
          </a:p>
        </p:txBody>
      </p:sp>
      <p:sp>
        <p:nvSpPr>
          <p:cNvPr id="17" name="TextBox 16"/>
          <p:cNvSpPr txBox="1"/>
          <p:nvPr/>
        </p:nvSpPr>
        <p:spPr>
          <a:xfrm>
            <a:off x="914400" y="4187952"/>
            <a:ext cx="365760" cy="256032"/>
          </a:xfrm>
          <a:prstGeom prst="rect">
            <a:avLst/>
          </a:prstGeom>
          <a:noFill/>
        </p:spPr>
        <p:txBody>
          <a:bodyPr wrap="square" anchor="t" lIns="0" rIns="0" tIns="0" bIns="0">
            <a:noAutofit/>
          </a:bodyPr>
          <a:lstStyle/>
          <a:p>
            <a:pPr algn="l">
              <a:lnSpc>
                <a:spcPct val="115000"/>
              </a:lnSpc>
              <a:spcAft>
                <a:spcPts val="0"/>
              </a:spcAft>
            </a:pPr>
            <a:r>
              <a:rPr sz="1400" b="1">
                <a:solidFill>
                  <a:srgbClr val="C9785A"/>
                </a:solidFill>
                <a:latin typeface="Poppins"/>
              </a:rPr>
              <a:t>4</a:t>
            </a:r>
          </a:p>
        </p:txBody>
      </p:sp>
      <p:sp>
        <p:nvSpPr>
          <p:cNvPr id="18" name="TextBox 17"/>
          <p:cNvSpPr txBox="1"/>
          <p:nvPr/>
        </p:nvSpPr>
        <p:spPr>
          <a:xfrm>
            <a:off x="1316736" y="4206240"/>
            <a:ext cx="2011680" cy="256032"/>
          </a:xfrm>
          <a:prstGeom prst="rect">
            <a:avLst/>
          </a:prstGeom>
          <a:noFill/>
        </p:spPr>
        <p:txBody>
          <a:bodyPr wrap="square" anchor="t" lIns="0" rIns="0" tIns="0" bIns="0">
            <a:noAutofit/>
          </a:bodyPr>
          <a:lstStyle/>
          <a:p>
            <a:pPr algn="l">
              <a:lnSpc>
                <a:spcPct val="115000"/>
              </a:lnSpc>
              <a:spcAft>
                <a:spcPts val="0"/>
              </a:spcAft>
            </a:pPr>
            <a:r>
              <a:rPr sz="1300" b="1">
                <a:solidFill>
                  <a:srgbClr val="121C2B"/>
                </a:solidFill>
                <a:latin typeface="Inter"/>
              </a:rPr>
              <a:t>Junior</a:t>
            </a:r>
          </a:p>
        </p:txBody>
      </p:sp>
      <p:sp>
        <p:nvSpPr>
          <p:cNvPr id="19" name="TextBox 18"/>
          <p:cNvSpPr txBox="1"/>
          <p:nvPr/>
        </p:nvSpPr>
        <p:spPr>
          <a:xfrm>
            <a:off x="3355848" y="4224528"/>
            <a:ext cx="2560320" cy="256032"/>
          </a:xfrm>
          <a:prstGeom prst="rect">
            <a:avLst/>
          </a:prstGeom>
          <a:noFill/>
        </p:spPr>
        <p:txBody>
          <a:bodyPr wrap="square" anchor="t" lIns="0" rIns="0" tIns="0" bIns="0">
            <a:noAutofit/>
          </a:bodyPr>
          <a:lstStyle/>
          <a:p>
            <a:pPr algn="l">
              <a:lnSpc>
                <a:spcPct val="115000"/>
              </a:lnSpc>
              <a:spcAft>
                <a:spcPts val="0"/>
              </a:spcAft>
            </a:pPr>
            <a:r>
              <a:rPr sz="1150" b="0">
                <a:solidFill>
                  <a:srgbClr val="9AA1AC"/>
                </a:solidFill>
                <a:latin typeface="Inter"/>
              </a:rPr>
              <a:t>most junior</a:t>
            </a:r>
          </a:p>
        </p:txBody>
      </p:sp>
      <p:sp>
        <p:nvSpPr>
          <p:cNvPr id="20" name="TextBox 19"/>
          <p:cNvSpPr txBox="1"/>
          <p:nvPr/>
        </p:nvSpPr>
        <p:spPr>
          <a:xfrm>
            <a:off x="914400" y="4700016"/>
            <a:ext cx="5029200" cy="365760"/>
          </a:xfrm>
          <a:prstGeom prst="rect">
            <a:avLst/>
          </a:prstGeom>
          <a:noFill/>
        </p:spPr>
        <p:txBody>
          <a:bodyPr wrap="square" anchor="t" lIns="0" rIns="0" tIns="0" bIns="0">
            <a:noAutofit/>
          </a:bodyPr>
          <a:lstStyle/>
          <a:p>
            <a:pPr algn="l">
              <a:lnSpc>
                <a:spcPct val="125000"/>
              </a:lnSpc>
              <a:spcAft>
                <a:spcPts val="0"/>
              </a:spcAft>
            </a:pPr>
            <a:r>
              <a:rPr sz="1100" b="0">
                <a:solidFill>
                  <a:srgbClr val="6B7280"/>
                </a:solidFill>
                <a:latin typeface="Inter"/>
              </a:rPr>
              <a:t>Ours counts down from the top. Many organisations count up from the bottom.</a:t>
            </a:r>
          </a:p>
        </p:txBody>
      </p:sp>
      <p:sp>
        <p:nvSpPr>
          <p:cNvPr id="21" name="Rectangle 20"/>
          <p:cNvSpPr/>
          <p:nvPr/>
        </p:nvSpPr>
        <p:spPr>
          <a:xfrm>
            <a:off x="6556248" y="2157984"/>
            <a:ext cx="4974336" cy="315468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56248" y="2157984"/>
            <a:ext cx="4974336" cy="50800"/>
          </a:xfrm>
          <a:prstGeom prst="rect">
            <a:avLst/>
          </a:prstGeom>
          <a:solidFill>
            <a:srgbClr val="B0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2395728"/>
            <a:ext cx="4480560" cy="274320"/>
          </a:xfrm>
          <a:prstGeom prst="rect">
            <a:avLst/>
          </a:prstGeom>
          <a:noFill/>
        </p:spPr>
        <p:txBody>
          <a:bodyPr wrap="square" anchor="t" lIns="0" rIns="0" tIns="0" bIns="0">
            <a:noAutofit/>
          </a:bodyPr>
          <a:lstStyle/>
          <a:p>
            <a:pPr algn="l">
              <a:lnSpc>
                <a:spcPct val="115000"/>
              </a:lnSpc>
              <a:spcAft>
                <a:spcPts val="0"/>
              </a:spcAft>
            </a:pPr>
            <a:r>
              <a:rPr sz="950" b="1">
                <a:solidFill>
                  <a:srgbClr val="B0603F"/>
                </a:solidFill>
                <a:latin typeface="Poppins"/>
              </a:rPr>
              <a:t>WHY IT MATTERS</a:t>
            </a:r>
          </a:p>
        </p:txBody>
      </p:sp>
      <p:sp>
        <p:nvSpPr>
          <p:cNvPr id="24" name="TextBox 23"/>
          <p:cNvSpPr txBox="1"/>
          <p:nvPr/>
        </p:nvSpPr>
        <p:spPr>
          <a:xfrm>
            <a:off x="6812280" y="2724912"/>
            <a:ext cx="4480560" cy="2011680"/>
          </a:xfrm>
          <a:prstGeom prst="rect">
            <a:avLst/>
          </a:prstGeom>
          <a:noFill/>
        </p:spPr>
        <p:txBody>
          <a:bodyPr wrap="square" anchor="t" lIns="0" rIns="0" tIns="0" bIns="0">
            <a:noAutofit/>
          </a:bodyPr>
          <a:lstStyle/>
          <a:p>
            <a:pPr algn="l">
              <a:lnSpc>
                <a:spcPct val="130000"/>
              </a:lnSpc>
              <a:spcAft>
                <a:spcPts val="800"/>
              </a:spcAft>
            </a:pPr>
            <a:r>
              <a:rPr sz="1250" b="1">
                <a:solidFill>
                  <a:srgbClr val="121C2B"/>
                </a:solidFill>
                <a:latin typeface="Inter"/>
              </a:rPr>
              <a:t>Read the wrong way round, a level 4 role would be compared against director pay and a level 1 against junior pay.</a:t>
            </a:r>
          </a:p>
          <a:p>
            <a:pPr algn="l">
              <a:lnSpc>
                <a:spcPct val="130000"/>
              </a:lnSpc>
              <a:spcAft>
                <a:spcPts val="800"/>
              </a:spcAft>
            </a:pPr>
            <a:r>
              <a:rPr sz="1200" b="0">
                <a:solidFill>
                  <a:srgbClr val="6B7280"/>
                </a:solidFill>
                <a:latin typeface="Inter"/>
              </a:rPr>
              <a:t>On our own data that is the difference between a market median of about £27,000 and about £91,000 for the same person.</a:t>
            </a:r>
          </a:p>
          <a:p>
            <a:pPr algn="l">
              <a:lnSpc>
                <a:spcPct val="130000"/>
              </a:lnSpc>
              <a:spcAft>
                <a:spcPts val="0"/>
              </a:spcAft>
            </a:pPr>
            <a:r>
              <a:rPr sz="1200" b="0">
                <a:solidFill>
                  <a:srgbClr val="6B7280"/>
                </a:solidFill>
                <a:latin typeface="Inter"/>
              </a:rPr>
              <a:t>A one-line description of each level is plenty, or just tell us whether 1 is the top or the bottom.</a:t>
            </a:r>
          </a:p>
        </p:txBody>
      </p:sp>
      <p:sp>
        <p:nvSpPr>
          <p:cNvPr id="25" name="TextBox 24"/>
          <p:cNvSpPr txBox="1"/>
          <p:nvPr/>
        </p:nvSpPr>
        <p:spPr>
          <a:xfrm>
            <a:off x="658368" y="5559552"/>
            <a:ext cx="10874959" cy="365760"/>
          </a:xfrm>
          <a:prstGeom prst="rect">
            <a:avLst/>
          </a:prstGeom>
          <a:noFill/>
        </p:spPr>
        <p:txBody>
          <a:bodyPr wrap="square" anchor="t" lIns="0" rIns="0" tIns="0" bIns="0">
            <a:noAutofit/>
          </a:bodyPr>
          <a:lstStyle/>
          <a:p>
            <a:pPr algn="l">
              <a:lnSpc>
                <a:spcPct val="130000"/>
              </a:lnSpc>
              <a:spcAft>
                <a:spcPts val="0"/>
              </a:spcAft>
            </a:pPr>
            <a:r>
              <a:rPr sz="1200" b="0">
                <a:solidFill>
                  <a:srgbClr val="6B7280"/>
                </a:solidFill>
                <a:latin typeface="Inter"/>
              </a:rPr>
              <a:t>If it is easier, send us the job titles that sit at each level and we will work it out from those.</a:t>
            </a:r>
          </a:p>
        </p:txBody>
      </p:sp>
      <p:sp>
        <p:nvSpPr>
          <p:cNvPr id="26" name="TextBox 25"/>
          <p:cNvSpPr txBox="1"/>
          <p:nvPr/>
        </p:nvSpPr>
        <p:spPr>
          <a:xfrm>
            <a:off x="658368" y="6455664"/>
            <a:ext cx="6400800" cy="219456"/>
          </a:xfrm>
          <a:prstGeom prst="rect">
            <a:avLst/>
          </a:prstGeom>
          <a:noFill/>
        </p:spPr>
        <p:txBody>
          <a:bodyPr wrap="square" anchor="t" lIns="0" rIns="0" tIns="0" bIns="0">
            <a:noAutofit/>
          </a:bodyPr>
          <a:lstStyle/>
          <a:p>
            <a:pPr algn="l">
              <a:lnSpc>
                <a:spcPct val="115000"/>
              </a:lnSpc>
              <a:spcAft>
                <a:spcPts val="0"/>
              </a:spcAft>
            </a:pPr>
            <a:r>
              <a:rPr sz="850" b="0">
                <a:solidFill>
                  <a:srgbClr val="9AA1AC"/>
                </a:solidFill>
                <a:latin typeface="Inter"/>
              </a:rPr>
              <a:t>Sussex Emmaus · Zigbert · September 2026</a:t>
            </a:r>
          </a:p>
        </p:txBody>
      </p:sp>
      <p:sp>
        <p:nvSpPr>
          <p:cNvPr id="27" name="TextBox 26"/>
          <p:cNvSpPr txBox="1"/>
          <p:nvPr/>
        </p:nvSpPr>
        <p:spPr>
          <a:xfrm>
            <a:off x="10618927" y="6455664"/>
            <a:ext cx="914400" cy="219456"/>
          </a:xfrm>
          <a:prstGeom prst="rect">
            <a:avLst/>
          </a:prstGeom>
          <a:noFill/>
        </p:spPr>
        <p:txBody>
          <a:bodyPr wrap="square" anchor="t" lIns="0" rIns="0" tIns="0" bIns="0">
            <a:noAutofit/>
          </a:bodyPr>
          <a:lstStyle/>
          <a:p>
            <a:pPr algn="r">
              <a:lnSpc>
                <a:spcPct val="115000"/>
              </a:lnSpc>
              <a:spcAft>
                <a:spcPts val="0"/>
              </a:spcAft>
            </a:pPr>
            <a:r>
              <a:rPr sz="850" b="0">
                <a:solidFill>
                  <a:srgbClr val="9AA1AC"/>
                </a:solidFill>
                <a:latin typeface="Inter"/>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zigbert-logo.png"/>
          <p:cNvPicPr>
            <a:picLocks noChangeAspect="1"/>
          </p:cNvPicPr>
          <p:nvPr/>
        </p:nvPicPr>
        <p:blipFill>
          <a:blip r:embed="rId2"/>
          <a:stretch>
            <a:fillRect/>
          </a:stretch>
        </p:blipFill>
        <p:spPr>
          <a:xfrm>
            <a:off x="10161727" y="365760"/>
            <a:ext cx="1371600" cy="411905"/>
          </a:xfrm>
          <a:prstGeom prst="rect">
            <a:avLst/>
          </a:prstGeom>
        </p:spPr>
      </p:pic>
      <p:sp>
        <p:nvSpPr>
          <p:cNvPr id="4" name="TextBox 3"/>
          <p:cNvSpPr txBox="1"/>
          <p:nvPr/>
        </p:nvSpPr>
        <p:spPr>
          <a:xfrm>
            <a:off x="658368" y="402336"/>
            <a:ext cx="10874959" cy="237744"/>
          </a:xfrm>
          <a:prstGeom prst="rect">
            <a:avLst/>
          </a:prstGeom>
          <a:noFill/>
        </p:spPr>
        <p:txBody>
          <a:bodyPr wrap="square" anchor="t" lIns="0" rIns="0" tIns="0" bIns="0">
            <a:noAutofit/>
          </a:bodyPr>
          <a:lstStyle/>
          <a:p>
            <a:pPr algn="l">
              <a:lnSpc>
                <a:spcPct val="115000"/>
              </a:lnSpc>
              <a:spcAft>
                <a:spcPts val="0"/>
              </a:spcAft>
            </a:pPr>
            <a:r>
              <a:rPr sz="1100" b="1">
                <a:solidFill>
                  <a:srgbClr val="B0603F"/>
                </a:solidFill>
                <a:latin typeface="Poppins"/>
              </a:rPr>
              <a:t>NEXT WEEK</a:t>
            </a:r>
          </a:p>
        </p:txBody>
      </p:sp>
      <p:sp>
        <p:nvSpPr>
          <p:cNvPr id="5" name="TextBox 4"/>
          <p:cNvSpPr txBox="1"/>
          <p:nvPr/>
        </p:nvSpPr>
        <p:spPr>
          <a:xfrm>
            <a:off x="658368" y="676656"/>
            <a:ext cx="10874959" cy="457200"/>
          </a:xfrm>
          <a:prstGeom prst="rect">
            <a:avLst/>
          </a:prstGeom>
          <a:noFill/>
        </p:spPr>
        <p:txBody>
          <a:bodyPr wrap="square" anchor="t" lIns="0" rIns="0" tIns="0" bIns="0">
            <a:noAutofit/>
          </a:bodyPr>
          <a:lstStyle/>
          <a:p>
            <a:pPr algn="l">
              <a:lnSpc>
                <a:spcPct val="115000"/>
              </a:lnSpc>
              <a:spcAft>
                <a:spcPts val="0"/>
              </a:spcAft>
            </a:pPr>
            <a:r>
              <a:rPr sz="2900" b="1">
                <a:solidFill>
                  <a:srgbClr val="121C2B"/>
                </a:solidFill>
                <a:latin typeface="Poppins"/>
              </a:rPr>
              <a:t>How would you like to go through it?</a:t>
            </a:r>
          </a:p>
        </p:txBody>
      </p:sp>
      <p:sp>
        <p:nvSpPr>
          <p:cNvPr id="6" name="TextBox 5"/>
          <p:cNvSpPr txBox="1"/>
          <p:nvPr/>
        </p:nvSpPr>
        <p:spPr>
          <a:xfrm>
            <a:off x="658368" y="1188720"/>
            <a:ext cx="10424160" cy="548640"/>
          </a:xfrm>
          <a:prstGeom prst="rect">
            <a:avLst/>
          </a:prstGeom>
          <a:noFill/>
        </p:spPr>
        <p:txBody>
          <a:bodyPr wrap="square" anchor="t" lIns="0" rIns="0" tIns="0" bIns="0">
            <a:noAutofit/>
          </a:bodyPr>
          <a:lstStyle/>
          <a:p>
            <a:pPr algn="l">
              <a:lnSpc>
                <a:spcPct val="130000"/>
              </a:lnSpc>
              <a:spcAft>
                <a:spcPts val="0"/>
              </a:spcAft>
            </a:pPr>
            <a:r>
              <a:rPr sz="1250" b="0">
                <a:solidFill>
                  <a:srgbClr val="6B7280"/>
                </a:solidFill>
                <a:latin typeface="Inter"/>
              </a:rPr>
              <a:t>The dashboard will be ready next week. Either way works for us, so it is whichever suits you better.</a:t>
            </a:r>
          </a:p>
        </p:txBody>
      </p:sp>
      <p:sp>
        <p:nvSpPr>
          <p:cNvPr id="7" name="Rectangle 6"/>
          <p:cNvSpPr/>
          <p:nvPr/>
        </p:nvSpPr>
        <p:spPr>
          <a:xfrm>
            <a:off x="658368" y="1719072"/>
            <a:ext cx="5208879" cy="251460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5208879" cy="508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75104"/>
            <a:ext cx="4733391" cy="201168"/>
          </a:xfrm>
          <a:prstGeom prst="rect">
            <a:avLst/>
          </a:prstGeom>
          <a:noFill/>
        </p:spPr>
        <p:txBody>
          <a:bodyPr wrap="square" anchor="t" lIns="0" rIns="0" tIns="0" bIns="0">
            <a:noAutofit/>
          </a:bodyPr>
          <a:lstStyle/>
          <a:p>
            <a:pPr algn="l">
              <a:lnSpc>
                <a:spcPct val="115000"/>
              </a:lnSpc>
              <a:spcAft>
                <a:spcPts val="0"/>
              </a:spcAft>
            </a:pPr>
            <a:r>
              <a:rPr sz="950" b="1">
                <a:solidFill>
                  <a:srgbClr val="C9785A"/>
                </a:solidFill>
                <a:latin typeface="Poppins"/>
              </a:rPr>
              <a:t>OPTION A</a:t>
            </a:r>
          </a:p>
        </p:txBody>
      </p:sp>
      <p:sp>
        <p:nvSpPr>
          <p:cNvPr id="10" name="TextBox 9"/>
          <p:cNvSpPr txBox="1"/>
          <p:nvPr/>
        </p:nvSpPr>
        <p:spPr>
          <a:xfrm>
            <a:off x="896112" y="2249424"/>
            <a:ext cx="4733391"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We send it over first</a:t>
            </a:r>
          </a:p>
        </p:txBody>
      </p:sp>
      <p:sp>
        <p:nvSpPr>
          <p:cNvPr id="11" name="TextBox 10"/>
          <p:cNvSpPr txBox="1"/>
          <p:nvPr/>
        </p:nvSpPr>
        <p:spPr>
          <a:xfrm>
            <a:off x="896112" y="2651760"/>
            <a:ext cx="4733391" cy="139903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You get the link and have a look in your own time.</a:t>
            </a:r>
          </a:p>
          <a:p>
            <a:pPr algn="l">
              <a:lnSpc>
                <a:spcPct val="128000"/>
              </a:lnSpc>
              <a:spcAft>
                <a:spcPts val="700"/>
              </a:spcAft>
            </a:pPr>
            <a:r>
              <a:rPr sz="1150" b="0">
                <a:solidFill>
                  <a:srgbClr val="6B7280"/>
                </a:solidFill>
                <a:latin typeface="Inter"/>
              </a:rPr>
              <a:t>Then we meet to go through whatever stood out, with your questions already formed.</a:t>
            </a:r>
          </a:p>
        </p:txBody>
      </p:sp>
      <p:sp>
        <p:nvSpPr>
          <p:cNvPr id="12" name="Rectangle 11"/>
          <p:cNvSpPr/>
          <p:nvPr/>
        </p:nvSpPr>
        <p:spPr>
          <a:xfrm>
            <a:off x="6324447" y="1719072"/>
            <a:ext cx="5208879" cy="251460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24447" y="1719072"/>
            <a:ext cx="5208879" cy="50800"/>
          </a:xfrm>
          <a:prstGeom prst="rect">
            <a:avLst/>
          </a:prstGeom>
          <a:solidFill>
            <a:srgbClr val="728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2191" y="1975104"/>
            <a:ext cx="4733391" cy="201168"/>
          </a:xfrm>
          <a:prstGeom prst="rect">
            <a:avLst/>
          </a:prstGeom>
          <a:noFill/>
        </p:spPr>
        <p:txBody>
          <a:bodyPr wrap="square" anchor="t" lIns="0" rIns="0" tIns="0" bIns="0">
            <a:noAutofit/>
          </a:bodyPr>
          <a:lstStyle/>
          <a:p>
            <a:pPr algn="l">
              <a:lnSpc>
                <a:spcPct val="115000"/>
              </a:lnSpc>
              <a:spcAft>
                <a:spcPts val="0"/>
              </a:spcAft>
            </a:pPr>
            <a:r>
              <a:rPr sz="950" b="1">
                <a:solidFill>
                  <a:srgbClr val="7285A5"/>
                </a:solidFill>
                <a:latin typeface="Poppins"/>
              </a:rPr>
              <a:t>OPTION B</a:t>
            </a:r>
          </a:p>
        </p:txBody>
      </p:sp>
      <p:sp>
        <p:nvSpPr>
          <p:cNvPr id="15" name="TextBox 14"/>
          <p:cNvSpPr txBox="1"/>
          <p:nvPr/>
        </p:nvSpPr>
        <p:spPr>
          <a:xfrm>
            <a:off x="6562191" y="2249424"/>
            <a:ext cx="4733391"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We walk through it together</a:t>
            </a:r>
          </a:p>
        </p:txBody>
      </p:sp>
      <p:sp>
        <p:nvSpPr>
          <p:cNvPr id="16" name="TextBox 15"/>
          <p:cNvSpPr txBox="1"/>
          <p:nvPr/>
        </p:nvSpPr>
        <p:spPr>
          <a:xfrm>
            <a:off x="6562191" y="2651760"/>
            <a:ext cx="4733391" cy="139903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We meet first and go through it live, so nothing needs decoding on your own.</a:t>
            </a:r>
          </a:p>
          <a:p>
            <a:pPr algn="l">
              <a:lnSpc>
                <a:spcPct val="128000"/>
              </a:lnSpc>
              <a:spcAft>
                <a:spcPts val="700"/>
              </a:spcAft>
            </a:pPr>
            <a:r>
              <a:rPr sz="1150" b="0">
                <a:solidFill>
                  <a:srgbClr val="6B7280"/>
                </a:solidFill>
                <a:latin typeface="Inter"/>
              </a:rPr>
              <a:t>You explore it properly afterwards.</a:t>
            </a:r>
          </a:p>
        </p:txBody>
      </p:sp>
      <p:sp>
        <p:nvSpPr>
          <p:cNvPr id="17" name="Rectangle 16"/>
          <p:cNvSpPr/>
          <p:nvPr/>
        </p:nvSpPr>
        <p:spPr>
          <a:xfrm>
            <a:off x="658368" y="4507992"/>
            <a:ext cx="10874959" cy="105156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507992"/>
            <a:ext cx="50800" cy="1051560"/>
          </a:xfrm>
          <a:prstGeom prst="rect">
            <a:avLst/>
          </a:prstGeom>
          <a:solidFill>
            <a:srgbClr val="121C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4690872"/>
            <a:ext cx="10515600" cy="256032"/>
          </a:xfrm>
          <a:prstGeom prst="rect">
            <a:avLst/>
          </a:prstGeom>
          <a:noFill/>
        </p:spPr>
        <p:txBody>
          <a:bodyPr wrap="square" anchor="t" lIns="0" rIns="0" tIns="0" bIns="0">
            <a:noAutofit/>
          </a:bodyPr>
          <a:lstStyle/>
          <a:p>
            <a:pPr algn="l">
              <a:lnSpc>
                <a:spcPct val="115000"/>
              </a:lnSpc>
              <a:spcAft>
                <a:spcPts val="0"/>
              </a:spcAft>
            </a:pPr>
            <a:r>
              <a:rPr sz="1350" b="1">
                <a:solidFill>
                  <a:srgbClr val="121C2B"/>
                </a:solidFill>
                <a:latin typeface="Poppins"/>
              </a:rPr>
              <a:t>Want a look before then?</a:t>
            </a:r>
          </a:p>
        </p:txBody>
      </p:sp>
      <p:sp>
        <p:nvSpPr>
          <p:cNvPr id="20" name="TextBox 19"/>
          <p:cNvSpPr txBox="1"/>
          <p:nvPr/>
        </p:nvSpPr>
        <p:spPr>
          <a:xfrm>
            <a:off x="950976" y="5010912"/>
            <a:ext cx="10515600" cy="310896"/>
          </a:xfrm>
          <a:prstGeom prst="rect">
            <a:avLst/>
          </a:prstGeom>
          <a:noFill/>
        </p:spPr>
        <p:txBody>
          <a:bodyPr wrap="square" anchor="t" lIns="0" rIns="0" tIns="0" bIns="0">
            <a:noAutofit/>
          </a:bodyPr>
          <a:lstStyle/>
          <a:p>
            <a:pPr algn="l">
              <a:lnSpc>
                <a:spcPct val="128000"/>
              </a:lnSpc>
              <a:spcAft>
                <a:spcPts val="0"/>
              </a:spcAft>
            </a:pPr>
            <a:r>
              <a:rPr sz="1150" b="0">
                <a:solidFill>
                  <a:srgbClr val="6B7280"/>
                </a:solidFill>
                <a:latin typeface="Inter"/>
              </a:rPr>
              <a:t>We can open the demo dashboard now and click through it, or I can send you the link afterwards so you can get familiar before yours lands.</a:t>
            </a:r>
          </a:p>
        </p:txBody>
      </p:sp>
      <p:sp>
        <p:nvSpPr>
          <p:cNvPr id="21" name="TextBox 20"/>
          <p:cNvSpPr txBox="1"/>
          <p:nvPr/>
        </p:nvSpPr>
        <p:spPr>
          <a:xfrm>
            <a:off x="658368" y="6455664"/>
            <a:ext cx="6400800" cy="219456"/>
          </a:xfrm>
          <a:prstGeom prst="rect">
            <a:avLst/>
          </a:prstGeom>
          <a:noFill/>
        </p:spPr>
        <p:txBody>
          <a:bodyPr wrap="square" anchor="t" lIns="0" rIns="0" tIns="0" bIns="0">
            <a:noAutofit/>
          </a:bodyPr>
          <a:lstStyle/>
          <a:p>
            <a:pPr algn="l">
              <a:lnSpc>
                <a:spcPct val="115000"/>
              </a:lnSpc>
              <a:spcAft>
                <a:spcPts val="0"/>
              </a:spcAft>
            </a:pPr>
            <a:r>
              <a:rPr sz="850" b="0">
                <a:solidFill>
                  <a:srgbClr val="9AA1AC"/>
                </a:solidFill>
                <a:latin typeface="Inter"/>
              </a:rPr>
              <a:t>Sussex Emmaus · Zigbert · September 2026</a:t>
            </a:r>
          </a:p>
        </p:txBody>
      </p:sp>
      <p:sp>
        <p:nvSpPr>
          <p:cNvPr id="22" name="TextBox 21"/>
          <p:cNvSpPr txBox="1"/>
          <p:nvPr/>
        </p:nvSpPr>
        <p:spPr>
          <a:xfrm>
            <a:off x="10618927" y="6455664"/>
            <a:ext cx="914400" cy="219456"/>
          </a:xfrm>
          <a:prstGeom prst="rect">
            <a:avLst/>
          </a:prstGeom>
          <a:noFill/>
        </p:spPr>
        <p:txBody>
          <a:bodyPr wrap="square" anchor="t" lIns="0" rIns="0" tIns="0" bIns="0">
            <a:noAutofit/>
          </a:bodyPr>
          <a:lstStyle/>
          <a:p>
            <a:pPr algn="r">
              <a:lnSpc>
                <a:spcPct val="115000"/>
              </a:lnSpc>
              <a:spcAft>
                <a:spcPts val="0"/>
              </a:spcAft>
            </a:pPr>
            <a:r>
              <a:rPr sz="850" b="0">
                <a:solidFill>
                  <a:srgbClr val="9AA1AC"/>
                </a:solidFill>
                <a:latin typeface="Inter"/>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zigbert-logo.png"/>
          <p:cNvPicPr>
            <a:picLocks noChangeAspect="1"/>
          </p:cNvPicPr>
          <p:nvPr/>
        </p:nvPicPr>
        <p:blipFill>
          <a:blip r:embed="rId2"/>
          <a:stretch>
            <a:fillRect/>
          </a:stretch>
        </p:blipFill>
        <p:spPr>
          <a:xfrm>
            <a:off x="10161727" y="365760"/>
            <a:ext cx="1371600" cy="411905"/>
          </a:xfrm>
          <a:prstGeom prst="rect">
            <a:avLst/>
          </a:prstGeom>
        </p:spPr>
      </p:pic>
      <p:sp>
        <p:nvSpPr>
          <p:cNvPr id="4" name="TextBox 3"/>
          <p:cNvSpPr txBox="1"/>
          <p:nvPr/>
        </p:nvSpPr>
        <p:spPr>
          <a:xfrm>
            <a:off x="658368" y="402336"/>
            <a:ext cx="10874959" cy="237744"/>
          </a:xfrm>
          <a:prstGeom prst="rect">
            <a:avLst/>
          </a:prstGeom>
          <a:noFill/>
        </p:spPr>
        <p:txBody>
          <a:bodyPr wrap="square" anchor="t" lIns="0" rIns="0" tIns="0" bIns="0">
            <a:noAutofit/>
          </a:bodyPr>
          <a:lstStyle/>
          <a:p>
            <a:pPr algn="l">
              <a:lnSpc>
                <a:spcPct val="115000"/>
              </a:lnSpc>
              <a:spcAft>
                <a:spcPts val="0"/>
              </a:spcAft>
            </a:pPr>
            <a:r>
              <a:rPr sz="1100" b="1">
                <a:solidFill>
                  <a:srgbClr val="B0603F"/>
                </a:solidFill>
                <a:latin typeface="Poppins"/>
              </a:rPr>
              <a:t>ALSO AVAILABLE</a:t>
            </a:r>
          </a:p>
        </p:txBody>
      </p:sp>
      <p:sp>
        <p:nvSpPr>
          <p:cNvPr id="5" name="TextBox 4"/>
          <p:cNvSpPr txBox="1"/>
          <p:nvPr/>
        </p:nvSpPr>
        <p:spPr>
          <a:xfrm>
            <a:off x="658368" y="676656"/>
            <a:ext cx="10874959" cy="457200"/>
          </a:xfrm>
          <a:prstGeom prst="rect">
            <a:avLst/>
          </a:prstGeom>
          <a:noFill/>
        </p:spPr>
        <p:txBody>
          <a:bodyPr wrap="square" anchor="t" lIns="0" rIns="0" tIns="0" bIns="0">
            <a:noAutofit/>
          </a:bodyPr>
          <a:lstStyle/>
          <a:p>
            <a:pPr algn="l">
              <a:lnSpc>
                <a:spcPct val="115000"/>
              </a:lnSpc>
              <a:spcAft>
                <a:spcPts val="0"/>
              </a:spcAft>
            </a:pPr>
            <a:r>
              <a:rPr sz="2900" b="1">
                <a:solidFill>
                  <a:srgbClr val="121C2B"/>
                </a:solidFill>
                <a:latin typeface="Poppins"/>
              </a:rPr>
              <a:t>Benefits, if you want them included</a:t>
            </a:r>
          </a:p>
        </p:txBody>
      </p:sp>
      <p:sp>
        <p:nvSpPr>
          <p:cNvPr id="6" name="TextBox 5"/>
          <p:cNvSpPr txBox="1"/>
          <p:nvPr/>
        </p:nvSpPr>
        <p:spPr>
          <a:xfrm>
            <a:off x="658368" y="1188720"/>
            <a:ext cx="10424160" cy="548640"/>
          </a:xfrm>
          <a:prstGeom prst="rect">
            <a:avLst/>
          </a:prstGeom>
          <a:noFill/>
        </p:spPr>
        <p:txBody>
          <a:bodyPr wrap="square" anchor="t" lIns="0" rIns="0" tIns="0" bIns="0">
            <a:noAutofit/>
          </a:bodyPr>
          <a:lstStyle/>
          <a:p>
            <a:pPr algn="l">
              <a:lnSpc>
                <a:spcPct val="130000"/>
              </a:lnSpc>
              <a:spcAft>
                <a:spcPts val="0"/>
              </a:spcAft>
            </a:pPr>
            <a:r>
              <a:rPr sz="1250" b="0">
                <a:solidFill>
                  <a:srgbClr val="6B7280"/>
                </a:solidFill>
                <a:latin typeface="Inter"/>
              </a:rPr>
              <a:t>We were asked to do pay. Benefits can go in alongside it at no extra cost, and it is entirely up to Sussex Emmaus whether they bother.</a:t>
            </a:r>
          </a:p>
        </p:txBody>
      </p:sp>
      <p:sp>
        <p:nvSpPr>
          <p:cNvPr id="7" name="Rectangle 6"/>
          <p:cNvSpPr/>
          <p:nvPr/>
        </p:nvSpPr>
        <p:spPr>
          <a:xfrm>
            <a:off x="658368" y="1938528"/>
            <a:ext cx="3472586" cy="283464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938528"/>
            <a:ext cx="3472586" cy="508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194560"/>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C9785A"/>
                </a:solidFill>
                <a:latin typeface="Poppins"/>
              </a:rPr>
              <a:t>NO COST</a:t>
            </a:r>
          </a:p>
        </p:txBody>
      </p:sp>
      <p:sp>
        <p:nvSpPr>
          <p:cNvPr id="10" name="TextBox 9"/>
          <p:cNvSpPr txBox="1"/>
          <p:nvPr/>
        </p:nvSpPr>
        <p:spPr>
          <a:xfrm>
            <a:off x="896112" y="2468880"/>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Included either way</a:t>
            </a:r>
          </a:p>
        </p:txBody>
      </p:sp>
      <p:sp>
        <p:nvSpPr>
          <p:cNvPr id="11" name="TextBox 10"/>
          <p:cNvSpPr txBox="1"/>
          <p:nvPr/>
        </p:nvSpPr>
        <p:spPr>
          <a:xfrm>
            <a:off x="896112" y="2871216"/>
            <a:ext cx="2997098" cy="171907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Benefits benchmarking is part of the package, not an add-on we charge for.</a:t>
            </a:r>
          </a:p>
        </p:txBody>
      </p:sp>
      <p:sp>
        <p:nvSpPr>
          <p:cNvPr id="12" name="Rectangle 11"/>
          <p:cNvSpPr/>
          <p:nvPr/>
        </p:nvSpPr>
        <p:spPr>
          <a:xfrm>
            <a:off x="4359554" y="1938528"/>
            <a:ext cx="3472586" cy="283464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9554" y="1938528"/>
            <a:ext cx="3472586" cy="50800"/>
          </a:xfrm>
          <a:prstGeom prst="rect">
            <a:avLst/>
          </a:prstGeom>
          <a:solidFill>
            <a:srgbClr val="728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2194560"/>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7285A5"/>
                </a:solidFill>
                <a:latin typeface="Poppins"/>
              </a:rPr>
              <a:t>WHAT WE NEED</a:t>
            </a:r>
          </a:p>
        </p:txBody>
      </p:sp>
      <p:sp>
        <p:nvSpPr>
          <p:cNvPr id="15" name="TextBox 14"/>
          <p:cNvSpPr txBox="1"/>
          <p:nvPr/>
        </p:nvSpPr>
        <p:spPr>
          <a:xfrm>
            <a:off x="4597298" y="2468880"/>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A list of what they offer</a:t>
            </a:r>
          </a:p>
        </p:txBody>
      </p:sp>
      <p:sp>
        <p:nvSpPr>
          <p:cNvPr id="16" name="TextBox 15"/>
          <p:cNvSpPr txBox="1"/>
          <p:nvPr/>
        </p:nvSpPr>
        <p:spPr>
          <a:xfrm>
            <a:off x="4597298" y="2871216"/>
            <a:ext cx="2997098" cy="171907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Pension, leave, sick pay, and whatever else they provide.</a:t>
            </a:r>
          </a:p>
          <a:p>
            <a:pPr algn="l">
              <a:lnSpc>
                <a:spcPct val="128000"/>
              </a:lnSpc>
              <a:spcAft>
                <a:spcPts val="700"/>
              </a:spcAft>
            </a:pPr>
            <a:r>
              <a:rPr sz="1150" b="0">
                <a:solidFill>
                  <a:srgbClr val="6B7280"/>
                </a:solidFill>
                <a:latin typeface="Inter"/>
              </a:rPr>
              <a:t>No particular format needed.</a:t>
            </a:r>
          </a:p>
        </p:txBody>
      </p:sp>
      <p:sp>
        <p:nvSpPr>
          <p:cNvPr id="17" name="Rectangle 16"/>
          <p:cNvSpPr/>
          <p:nvPr/>
        </p:nvSpPr>
        <p:spPr>
          <a:xfrm>
            <a:off x="8060740" y="1938528"/>
            <a:ext cx="3472586" cy="283464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0740" y="1938528"/>
            <a:ext cx="3472586" cy="50800"/>
          </a:xfrm>
          <a:prstGeom prst="rect">
            <a:avLst/>
          </a:prstGeom>
          <a:solidFill>
            <a:srgbClr val="121C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484" y="2194560"/>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121C2B"/>
                </a:solidFill>
                <a:latin typeface="Poppins"/>
              </a:rPr>
              <a:t>WORTH KNOWING</a:t>
            </a:r>
          </a:p>
        </p:txBody>
      </p:sp>
      <p:sp>
        <p:nvSpPr>
          <p:cNvPr id="20" name="TextBox 19"/>
          <p:cNvSpPr txBox="1"/>
          <p:nvPr/>
        </p:nvSpPr>
        <p:spPr>
          <a:xfrm>
            <a:off x="8298484" y="2468880"/>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A different method</a:t>
            </a:r>
          </a:p>
        </p:txBody>
      </p:sp>
      <p:sp>
        <p:nvSpPr>
          <p:cNvPr id="21" name="TextBox 20"/>
          <p:cNvSpPr txBox="1"/>
          <p:nvPr/>
        </p:nvSpPr>
        <p:spPr>
          <a:xfrm>
            <a:off x="8298484" y="2871216"/>
            <a:ext cx="2997098" cy="171907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Benefits come from survey and audit evidence rather than job adverts.</a:t>
            </a:r>
          </a:p>
          <a:p>
            <a:pPr algn="l">
              <a:lnSpc>
                <a:spcPct val="128000"/>
              </a:lnSpc>
              <a:spcAft>
                <a:spcPts val="700"/>
              </a:spcAft>
            </a:pPr>
            <a:r>
              <a:rPr sz="1150" b="0">
                <a:solidFill>
                  <a:srgbClr val="6B7280"/>
                </a:solidFill>
                <a:latin typeface="Inter"/>
              </a:rPr>
              <a:t>So they run a cycle behind pay.</a:t>
            </a:r>
          </a:p>
        </p:txBody>
      </p:sp>
      <p:sp>
        <p:nvSpPr>
          <p:cNvPr id="22" name="TextBox 21"/>
          <p:cNvSpPr txBox="1"/>
          <p:nvPr/>
        </p:nvSpPr>
        <p:spPr>
          <a:xfrm>
            <a:off x="658368" y="5029200"/>
            <a:ext cx="10874959" cy="365760"/>
          </a:xfrm>
          <a:prstGeom prst="rect">
            <a:avLst/>
          </a:prstGeom>
          <a:noFill/>
        </p:spPr>
        <p:txBody>
          <a:bodyPr wrap="square" anchor="t" lIns="0" rIns="0" tIns="0" bIns="0">
            <a:noAutofit/>
          </a:bodyPr>
          <a:lstStyle/>
          <a:p>
            <a:pPr algn="l">
              <a:lnSpc>
                <a:spcPct val="130000"/>
              </a:lnSpc>
              <a:spcAft>
                <a:spcPts val="0"/>
              </a:spcAft>
            </a:pPr>
            <a:r>
              <a:rPr sz="1200" b="0">
                <a:solidFill>
                  <a:srgbClr val="6B7280"/>
                </a:solidFill>
                <a:latin typeface="Inter"/>
              </a:rPr>
              <a:t>There is no deadline on this. Benefits can be added after the dashboard is live without rebuilding anything.</a:t>
            </a:r>
          </a:p>
        </p:txBody>
      </p:sp>
      <p:sp>
        <p:nvSpPr>
          <p:cNvPr id="23" name="TextBox 22"/>
          <p:cNvSpPr txBox="1"/>
          <p:nvPr/>
        </p:nvSpPr>
        <p:spPr>
          <a:xfrm>
            <a:off x="658368" y="6455664"/>
            <a:ext cx="6400800" cy="219456"/>
          </a:xfrm>
          <a:prstGeom prst="rect">
            <a:avLst/>
          </a:prstGeom>
          <a:noFill/>
        </p:spPr>
        <p:txBody>
          <a:bodyPr wrap="square" anchor="t" lIns="0" rIns="0" tIns="0" bIns="0">
            <a:noAutofit/>
          </a:bodyPr>
          <a:lstStyle/>
          <a:p>
            <a:pPr algn="l">
              <a:lnSpc>
                <a:spcPct val="115000"/>
              </a:lnSpc>
              <a:spcAft>
                <a:spcPts val="0"/>
              </a:spcAft>
            </a:pPr>
            <a:r>
              <a:rPr sz="850" b="0">
                <a:solidFill>
                  <a:srgbClr val="9AA1AC"/>
                </a:solidFill>
                <a:latin typeface="Inter"/>
              </a:rPr>
              <a:t>Sussex Emmaus · Zigbert · September 2026</a:t>
            </a:r>
          </a:p>
        </p:txBody>
      </p:sp>
      <p:sp>
        <p:nvSpPr>
          <p:cNvPr id="24" name="TextBox 23"/>
          <p:cNvSpPr txBox="1"/>
          <p:nvPr/>
        </p:nvSpPr>
        <p:spPr>
          <a:xfrm>
            <a:off x="10618927" y="6455664"/>
            <a:ext cx="914400" cy="219456"/>
          </a:xfrm>
          <a:prstGeom prst="rect">
            <a:avLst/>
          </a:prstGeom>
          <a:noFill/>
        </p:spPr>
        <p:txBody>
          <a:bodyPr wrap="square" anchor="t" lIns="0" rIns="0" tIns="0" bIns="0">
            <a:noAutofit/>
          </a:bodyPr>
          <a:lstStyle/>
          <a:p>
            <a:pPr algn="r">
              <a:lnSpc>
                <a:spcPct val="115000"/>
              </a:lnSpc>
              <a:spcAft>
                <a:spcPts val="0"/>
              </a:spcAft>
            </a:pPr>
            <a:r>
              <a:rPr sz="850" b="0">
                <a:solidFill>
                  <a:srgbClr val="9AA1AC"/>
                </a:solidFill>
                <a:latin typeface="Inter"/>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zigbert-logo.png"/>
          <p:cNvPicPr>
            <a:picLocks noChangeAspect="1"/>
          </p:cNvPicPr>
          <p:nvPr/>
        </p:nvPicPr>
        <p:blipFill>
          <a:blip r:embed="rId2"/>
          <a:stretch>
            <a:fillRect/>
          </a:stretch>
        </p:blipFill>
        <p:spPr>
          <a:xfrm>
            <a:off x="10161727" y="365760"/>
            <a:ext cx="1371600" cy="411905"/>
          </a:xfrm>
          <a:prstGeom prst="rect">
            <a:avLst/>
          </a:prstGeom>
        </p:spPr>
      </p:pic>
      <p:sp>
        <p:nvSpPr>
          <p:cNvPr id="4" name="TextBox 3"/>
          <p:cNvSpPr txBox="1"/>
          <p:nvPr/>
        </p:nvSpPr>
        <p:spPr>
          <a:xfrm>
            <a:off x="658368" y="402336"/>
            <a:ext cx="10874959" cy="237744"/>
          </a:xfrm>
          <a:prstGeom prst="rect">
            <a:avLst/>
          </a:prstGeom>
          <a:noFill/>
        </p:spPr>
        <p:txBody>
          <a:bodyPr wrap="square" anchor="t" lIns="0" rIns="0" tIns="0" bIns="0">
            <a:noAutofit/>
          </a:bodyPr>
          <a:lstStyle/>
          <a:p>
            <a:pPr algn="l">
              <a:lnSpc>
                <a:spcPct val="115000"/>
              </a:lnSpc>
              <a:spcAft>
                <a:spcPts val="0"/>
              </a:spcAft>
            </a:pPr>
            <a:r>
              <a:rPr sz="1100" b="1">
                <a:solidFill>
                  <a:srgbClr val="B0603F"/>
                </a:solidFill>
                <a:latin typeface="Poppins"/>
              </a:rPr>
              <a:t>TO TAKE AWAY</a:t>
            </a:r>
          </a:p>
        </p:txBody>
      </p:sp>
      <p:sp>
        <p:nvSpPr>
          <p:cNvPr id="5" name="TextBox 4"/>
          <p:cNvSpPr txBox="1"/>
          <p:nvPr/>
        </p:nvSpPr>
        <p:spPr>
          <a:xfrm>
            <a:off x="658368" y="676656"/>
            <a:ext cx="10874959" cy="457200"/>
          </a:xfrm>
          <a:prstGeom prst="rect">
            <a:avLst/>
          </a:prstGeom>
          <a:noFill/>
        </p:spPr>
        <p:txBody>
          <a:bodyPr wrap="square" anchor="t" lIns="0" rIns="0" tIns="0" bIns="0">
            <a:noAutofit/>
          </a:bodyPr>
          <a:lstStyle/>
          <a:p>
            <a:pPr algn="l">
              <a:lnSpc>
                <a:spcPct val="115000"/>
              </a:lnSpc>
              <a:spcAft>
                <a:spcPts val="0"/>
              </a:spcAft>
            </a:pPr>
            <a:r>
              <a:rPr sz="2900" b="1">
                <a:solidFill>
                  <a:srgbClr val="121C2B"/>
                </a:solidFill>
                <a:latin typeface="Poppins"/>
              </a:rPr>
              <a:t>Three things from you</a:t>
            </a:r>
          </a:p>
        </p:txBody>
      </p:sp>
      <p:sp>
        <p:nvSpPr>
          <p:cNvPr id="6" name="TextBox 5"/>
          <p:cNvSpPr txBox="1"/>
          <p:nvPr/>
        </p:nvSpPr>
        <p:spPr>
          <a:xfrm>
            <a:off x="658368" y="1188720"/>
            <a:ext cx="10424160" cy="548640"/>
          </a:xfrm>
          <a:prstGeom prst="rect">
            <a:avLst/>
          </a:prstGeom>
          <a:noFill/>
        </p:spPr>
        <p:txBody>
          <a:bodyPr wrap="square" anchor="t" lIns="0" rIns="0" tIns="0" bIns="0">
            <a:noAutofit/>
          </a:bodyPr>
          <a:lstStyle/>
          <a:p>
            <a:pPr algn="l">
              <a:lnSpc>
                <a:spcPct val="130000"/>
              </a:lnSpc>
              <a:spcAft>
                <a:spcPts val="0"/>
              </a:spcAft>
            </a:pPr>
            <a:r>
              <a:rPr sz="1250" b="0">
                <a:solidFill>
                  <a:srgbClr val="6B7280"/>
                </a:solidFill>
                <a:latin typeface="Inter"/>
              </a:rPr>
              <a:t>Everything else is on our side. None of it is urgent enough to hold up the build except the first one.</a:t>
            </a:r>
          </a:p>
        </p:txBody>
      </p:sp>
      <p:sp>
        <p:nvSpPr>
          <p:cNvPr id="7" name="Rectangle 6"/>
          <p:cNvSpPr/>
          <p:nvPr/>
        </p:nvSpPr>
        <p:spPr>
          <a:xfrm>
            <a:off x="658368" y="1719072"/>
            <a:ext cx="3472586" cy="283464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19072"/>
            <a:ext cx="3472586" cy="50800"/>
          </a:xfrm>
          <a:prstGeom prst="rect">
            <a:avLst/>
          </a:prstGeom>
          <a:solidFill>
            <a:srgbClr val="C97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75104"/>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C9785A"/>
                </a:solidFill>
                <a:latin typeface="Poppins"/>
              </a:rPr>
              <a:t>ONE</a:t>
            </a:r>
          </a:p>
        </p:txBody>
      </p:sp>
      <p:sp>
        <p:nvSpPr>
          <p:cNvPr id="10" name="TextBox 9"/>
          <p:cNvSpPr txBox="1"/>
          <p:nvPr/>
        </p:nvSpPr>
        <p:spPr>
          <a:xfrm>
            <a:off x="896112" y="2249424"/>
            <a:ext cx="2997098" cy="36576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What levels 1 to 4 mean</a:t>
            </a:r>
          </a:p>
        </p:txBody>
      </p:sp>
      <p:sp>
        <p:nvSpPr>
          <p:cNvPr id="11" name="TextBox 10"/>
          <p:cNvSpPr txBox="1"/>
          <p:nvPr/>
        </p:nvSpPr>
        <p:spPr>
          <a:xfrm>
            <a:off x="896112" y="2651760"/>
            <a:ext cx="2997098" cy="171907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A line each, or just whether 1 is the most senior or the most junior.</a:t>
            </a:r>
          </a:p>
          <a:p>
            <a:pPr algn="l">
              <a:lnSpc>
                <a:spcPct val="128000"/>
              </a:lnSpc>
              <a:spcAft>
                <a:spcPts val="700"/>
              </a:spcAft>
            </a:pPr>
            <a:r>
              <a:rPr sz="1150" b="0">
                <a:solidFill>
                  <a:srgbClr val="6B7280"/>
                </a:solidFill>
                <a:latin typeface="Inter"/>
              </a:rPr>
              <a:t>This is the only one that holds up the build.</a:t>
            </a:r>
          </a:p>
        </p:txBody>
      </p:sp>
      <p:sp>
        <p:nvSpPr>
          <p:cNvPr id="12" name="Rectangle 11"/>
          <p:cNvSpPr/>
          <p:nvPr/>
        </p:nvSpPr>
        <p:spPr>
          <a:xfrm>
            <a:off x="4359554" y="1719072"/>
            <a:ext cx="3472586" cy="283464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9554" y="1719072"/>
            <a:ext cx="3472586" cy="50800"/>
          </a:xfrm>
          <a:prstGeom prst="rect">
            <a:avLst/>
          </a:prstGeom>
          <a:solidFill>
            <a:srgbClr val="728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1975104"/>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7285A5"/>
                </a:solidFill>
                <a:latin typeface="Poppins"/>
              </a:rPr>
              <a:t>TWO</a:t>
            </a:r>
          </a:p>
        </p:txBody>
      </p:sp>
      <p:sp>
        <p:nvSpPr>
          <p:cNvPr id="15" name="TextBox 14"/>
          <p:cNvSpPr txBox="1"/>
          <p:nvPr/>
        </p:nvSpPr>
        <p:spPr>
          <a:xfrm>
            <a:off x="4597298" y="2249424"/>
            <a:ext cx="2997098" cy="64008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Sent over, or walked through</a:t>
            </a:r>
          </a:p>
        </p:txBody>
      </p:sp>
      <p:sp>
        <p:nvSpPr>
          <p:cNvPr id="16" name="TextBox 15"/>
          <p:cNvSpPr txBox="1"/>
          <p:nvPr/>
        </p:nvSpPr>
        <p:spPr>
          <a:xfrm>
            <a:off x="4597298" y="2926080"/>
            <a:ext cx="2997098" cy="144475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Whether you would rather have the dashboard first and meet after, or meet and go through it together.</a:t>
            </a:r>
          </a:p>
        </p:txBody>
      </p:sp>
      <p:sp>
        <p:nvSpPr>
          <p:cNvPr id="17" name="Rectangle 16"/>
          <p:cNvSpPr/>
          <p:nvPr/>
        </p:nvSpPr>
        <p:spPr>
          <a:xfrm>
            <a:off x="8060740" y="1719072"/>
            <a:ext cx="3472586" cy="2834640"/>
          </a:xfrm>
          <a:prstGeom prst="rect">
            <a:avLst/>
          </a:prstGeom>
          <a:solidFill>
            <a:srgbClr val="FFFFFF"/>
          </a:solidFill>
          <a:ln w="12700">
            <a:solidFill>
              <a:srgbClr val="E7E0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0740" y="1719072"/>
            <a:ext cx="3472586" cy="50800"/>
          </a:xfrm>
          <a:prstGeom prst="rect">
            <a:avLst/>
          </a:prstGeom>
          <a:solidFill>
            <a:srgbClr val="121C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484" y="1975104"/>
            <a:ext cx="2997098" cy="201168"/>
          </a:xfrm>
          <a:prstGeom prst="rect">
            <a:avLst/>
          </a:prstGeom>
          <a:noFill/>
        </p:spPr>
        <p:txBody>
          <a:bodyPr wrap="square" anchor="t" lIns="0" rIns="0" tIns="0" bIns="0">
            <a:noAutofit/>
          </a:bodyPr>
          <a:lstStyle/>
          <a:p>
            <a:pPr algn="l">
              <a:lnSpc>
                <a:spcPct val="115000"/>
              </a:lnSpc>
              <a:spcAft>
                <a:spcPts val="0"/>
              </a:spcAft>
            </a:pPr>
            <a:r>
              <a:rPr sz="950" b="1">
                <a:solidFill>
                  <a:srgbClr val="121C2B"/>
                </a:solidFill>
                <a:latin typeface="Poppins"/>
              </a:rPr>
              <a:t>THREE</a:t>
            </a:r>
          </a:p>
        </p:txBody>
      </p:sp>
      <p:sp>
        <p:nvSpPr>
          <p:cNvPr id="20" name="TextBox 19"/>
          <p:cNvSpPr txBox="1"/>
          <p:nvPr/>
        </p:nvSpPr>
        <p:spPr>
          <a:xfrm>
            <a:off x="8298484" y="2249424"/>
            <a:ext cx="2997098" cy="640080"/>
          </a:xfrm>
          <a:prstGeom prst="rect">
            <a:avLst/>
          </a:prstGeom>
          <a:noFill/>
        </p:spPr>
        <p:txBody>
          <a:bodyPr wrap="square" anchor="t" lIns="0" rIns="0" tIns="0" bIns="0">
            <a:noAutofit/>
          </a:bodyPr>
          <a:lstStyle/>
          <a:p>
            <a:pPr algn="l">
              <a:lnSpc>
                <a:spcPct val="110000"/>
              </a:lnSpc>
              <a:spcAft>
                <a:spcPts val="0"/>
              </a:spcAft>
            </a:pPr>
            <a:r>
              <a:rPr sz="1700" b="1">
                <a:solidFill>
                  <a:srgbClr val="121C2B"/>
                </a:solidFill>
                <a:latin typeface="Poppins"/>
              </a:rPr>
              <a:t>Whether Sussex Emmaus want benefits</a:t>
            </a:r>
          </a:p>
        </p:txBody>
      </p:sp>
      <p:sp>
        <p:nvSpPr>
          <p:cNvPr id="21" name="TextBox 20"/>
          <p:cNvSpPr txBox="1"/>
          <p:nvPr/>
        </p:nvSpPr>
        <p:spPr>
          <a:xfrm>
            <a:off x="8298484" y="2926080"/>
            <a:ext cx="2997098" cy="1444752"/>
          </a:xfrm>
          <a:prstGeom prst="rect">
            <a:avLst/>
          </a:prstGeom>
          <a:noFill/>
        </p:spPr>
        <p:txBody>
          <a:bodyPr wrap="square" anchor="t" lIns="0" rIns="0" tIns="0" bIns="0">
            <a:noAutofit/>
          </a:bodyPr>
          <a:lstStyle/>
          <a:p>
            <a:pPr algn="l">
              <a:lnSpc>
                <a:spcPct val="128000"/>
              </a:lnSpc>
              <a:spcAft>
                <a:spcPts val="700"/>
              </a:spcAft>
            </a:pPr>
            <a:r>
              <a:rPr sz="1150" b="0">
                <a:solidFill>
                  <a:srgbClr val="6B7280"/>
                </a:solidFill>
                <a:latin typeface="Inter"/>
              </a:rPr>
              <a:t>A yes or no is enough for now.</a:t>
            </a:r>
          </a:p>
          <a:p>
            <a:pPr algn="l">
              <a:lnSpc>
                <a:spcPct val="128000"/>
              </a:lnSpc>
              <a:spcAft>
                <a:spcPts val="700"/>
              </a:spcAft>
            </a:pPr>
            <a:r>
              <a:rPr sz="1150" b="0">
                <a:solidFill>
                  <a:srgbClr val="6B7280"/>
                </a:solidFill>
                <a:latin typeface="Inter"/>
              </a:rPr>
              <a:t>We can chase the detail once the pay side is live.</a:t>
            </a:r>
          </a:p>
        </p:txBody>
      </p:sp>
      <p:sp>
        <p:nvSpPr>
          <p:cNvPr id="22" name="Rectangle 21"/>
          <p:cNvSpPr/>
          <p:nvPr/>
        </p:nvSpPr>
        <p:spPr>
          <a:xfrm>
            <a:off x="658368" y="4846320"/>
            <a:ext cx="10874959" cy="841248"/>
          </a:xfrm>
          <a:prstGeom prst="rect">
            <a:avLst/>
          </a:prstGeom>
          <a:solidFill>
            <a:srgbClr val="E8D8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4846320"/>
            <a:ext cx="50800" cy="841248"/>
          </a:xfrm>
          <a:prstGeom prst="rect">
            <a:avLst/>
          </a:prstGeom>
          <a:solidFill>
            <a:srgbClr val="B0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 y="5120640"/>
            <a:ext cx="10607040" cy="292608"/>
          </a:xfrm>
          <a:prstGeom prst="rect">
            <a:avLst/>
          </a:prstGeom>
          <a:noFill/>
        </p:spPr>
        <p:txBody>
          <a:bodyPr wrap="square" anchor="t" lIns="0" rIns="0" tIns="0" bIns="0">
            <a:noAutofit/>
          </a:bodyPr>
          <a:lstStyle/>
          <a:p>
            <a:pPr algn="l">
              <a:lnSpc>
                <a:spcPct val="115000"/>
              </a:lnSpc>
              <a:spcAft>
                <a:spcPts val="0"/>
              </a:spcAft>
            </a:pPr>
            <a:r>
              <a:rPr sz="1250" b="0">
                <a:solidFill>
                  <a:srgbClr val="6B4436"/>
                </a:solidFill>
                <a:latin typeface="Inter"/>
              </a:rPr>
              <a:t>Anything else, just email </a:t>
            </a:r>
          </a:p>
        </p:txBody>
      </p:sp>
      <p:sp>
        <p:nvSpPr>
          <p:cNvPr id="25" name="TextBox 24"/>
          <p:cNvSpPr txBox="1"/>
          <p:nvPr/>
        </p:nvSpPr>
        <p:spPr>
          <a:xfrm>
            <a:off x="2871216" y="5120640"/>
            <a:ext cx="5486400" cy="292608"/>
          </a:xfrm>
          <a:prstGeom prst="rect">
            <a:avLst/>
          </a:prstGeom>
          <a:noFill/>
        </p:spPr>
        <p:txBody>
          <a:bodyPr wrap="square" anchor="t" lIns="0" rIns="0" tIns="0" bIns="0">
            <a:noAutofit/>
          </a:bodyPr>
          <a:lstStyle/>
          <a:p>
            <a:pPr algn="l">
              <a:lnSpc>
                <a:spcPct val="115000"/>
              </a:lnSpc>
              <a:spcAft>
                <a:spcPts val="0"/>
              </a:spcAft>
            </a:pPr>
            <a:r>
              <a:rPr sz="1250" b="1">
                <a:solidFill>
                  <a:srgbClr val="B0603F"/>
                </a:solidFill>
                <a:latin typeface="Inter"/>
              </a:rPr>
              <a:t>hello@twentysixconsulting.co.uk</a:t>
            </a:r>
          </a:p>
        </p:txBody>
      </p:sp>
      <p:sp>
        <p:nvSpPr>
          <p:cNvPr id="26" name="TextBox 25"/>
          <p:cNvSpPr txBox="1"/>
          <p:nvPr/>
        </p:nvSpPr>
        <p:spPr>
          <a:xfrm>
            <a:off x="658368" y="6455664"/>
            <a:ext cx="6400800" cy="219456"/>
          </a:xfrm>
          <a:prstGeom prst="rect">
            <a:avLst/>
          </a:prstGeom>
          <a:noFill/>
        </p:spPr>
        <p:txBody>
          <a:bodyPr wrap="square" anchor="t" lIns="0" rIns="0" tIns="0" bIns="0">
            <a:noAutofit/>
          </a:bodyPr>
          <a:lstStyle/>
          <a:p>
            <a:pPr algn="l">
              <a:lnSpc>
                <a:spcPct val="115000"/>
              </a:lnSpc>
              <a:spcAft>
                <a:spcPts val="0"/>
              </a:spcAft>
            </a:pPr>
            <a:r>
              <a:rPr sz="850" b="0">
                <a:solidFill>
                  <a:srgbClr val="9AA1AC"/>
                </a:solidFill>
                <a:latin typeface="Inter"/>
              </a:rPr>
              <a:t>Sussex Emmaus · Zigbert · September 2026</a:t>
            </a:r>
          </a:p>
        </p:txBody>
      </p:sp>
      <p:sp>
        <p:nvSpPr>
          <p:cNvPr id="27" name="TextBox 26"/>
          <p:cNvSpPr txBox="1"/>
          <p:nvPr/>
        </p:nvSpPr>
        <p:spPr>
          <a:xfrm>
            <a:off x="10618927" y="6455664"/>
            <a:ext cx="914400" cy="219456"/>
          </a:xfrm>
          <a:prstGeom prst="rect">
            <a:avLst/>
          </a:prstGeom>
          <a:noFill/>
        </p:spPr>
        <p:txBody>
          <a:bodyPr wrap="square" anchor="t" lIns="0" rIns="0" tIns="0" bIns="0">
            <a:noAutofit/>
          </a:bodyPr>
          <a:lstStyle/>
          <a:p>
            <a:pPr algn="r">
              <a:lnSpc>
                <a:spcPct val="115000"/>
              </a:lnSpc>
              <a:spcAft>
                <a:spcPts val="0"/>
              </a:spcAft>
            </a:pPr>
            <a:r>
              <a:rPr sz="850" b="0">
                <a:solidFill>
                  <a:srgbClr val="9AA1AC"/>
                </a:solidFill>
                <a:latin typeface="Inter"/>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