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igbert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77240"/>
            <a:ext cx="2148840" cy="6453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25146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9785A"/>
                </a:solidFill>
                <a:latin typeface="Poppins"/>
              </a:rPr>
              <a:t>WHERE WE'RE UP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926080"/>
            <a:ext cx="95097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oppins"/>
              </a:rPr>
              <a:t>Sussex Emmaus on Zigbert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16052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B9C1CC"/>
                </a:solidFill>
                <a:latin typeface="Inter"/>
              </a:rPr>
              <a:t>What happens between now and you having the dashboard.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760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E7A8A"/>
                </a:solidFill>
                <a:latin typeface="Inter"/>
              </a:rPr>
              <a:t>TwentySix Consulting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igber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365760"/>
            <a:ext cx="1371600" cy="411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B0603F"/>
                </a:solidFill>
                <a:latin typeface="Poppins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76656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121C2B"/>
                </a:solidFill>
                <a:latin typeface="Poppins"/>
              </a:rPr>
              <a:t>Roles in, dashboard out, six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887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Inter"/>
              </a:rPr>
              <a:t>You've sent us everything we need, so the next bit is on us. Three short calls across the six weeks and that's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2343658"/>
            <a:ext cx="2036003" cy="19050"/>
          </a:xfrm>
          <a:prstGeom prst="rect">
            <a:avLst/>
          </a:prstGeom>
          <a:solidFill>
            <a:srgbClr val="E8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249424"/>
            <a:ext cx="201168" cy="201168"/>
          </a:xfrm>
          <a:prstGeom prst="ellipse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33472"/>
            <a:ext cx="192627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2F7D5B"/>
                </a:solidFill>
                <a:latin typeface="Poppins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89504"/>
            <a:ext cx="192627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21C2B"/>
                </a:solidFill>
                <a:latin typeface="Poppins"/>
              </a:rPr>
              <a:t>Roles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66160"/>
            <a:ext cx="1926275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FTE salary and level for every 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6707" y="2343658"/>
            <a:ext cx="2036003" cy="19050"/>
          </a:xfrm>
          <a:prstGeom prst="rect">
            <a:avLst/>
          </a:prstGeom>
          <a:solidFill>
            <a:srgbClr val="E8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95539" y="2249424"/>
            <a:ext cx="201168" cy="201168"/>
          </a:xfrm>
          <a:prstGeom prst="ellipse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5539" y="2633472"/>
            <a:ext cx="192627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C9785A"/>
                </a:solidFill>
                <a:latin typeface="Poppins"/>
              </a:rPr>
              <a:t>THIS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5539" y="2889504"/>
            <a:ext cx="192627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21C2B"/>
                </a:solidFill>
                <a:latin typeface="Poppins"/>
              </a:rPr>
              <a:t>We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5539" y="3566160"/>
            <a:ext cx="1926275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Matched on function, level, industry and location, then checked by one of our specialists.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3878" y="2343658"/>
            <a:ext cx="2036003" cy="19050"/>
          </a:xfrm>
          <a:prstGeom prst="rect">
            <a:avLst/>
          </a:prstGeom>
          <a:solidFill>
            <a:srgbClr val="E8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32710" y="2249424"/>
            <a:ext cx="201168" cy="201168"/>
          </a:xfrm>
          <a:prstGeom prst="ellipse">
            <a:avLst/>
          </a:prstGeom>
          <a:solidFill>
            <a:srgbClr val="728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2710" y="2633472"/>
            <a:ext cx="192627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285A5"/>
                </a:solidFill>
                <a:latin typeface="Poppins"/>
              </a:rPr>
              <a:t>WEEK 2 · 14 SEPT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2710" y="2889504"/>
            <a:ext cx="192627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21C2B"/>
                </a:solidFill>
                <a:latin typeface="Poppins"/>
              </a:rPr>
              <a:t>First 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2710" y="3218688"/>
            <a:ext cx="192627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B0603F"/>
                </a:solidFill>
                <a:latin typeface="Poppins"/>
              </a:rPr>
              <a:t>30-45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2710" y="3566160"/>
            <a:ext cx="1926275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Your data's in by then. We watch how you use it without chipping in, then talk through anything that needs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71049" y="2343658"/>
            <a:ext cx="2036003" cy="19050"/>
          </a:xfrm>
          <a:prstGeom prst="rect">
            <a:avLst/>
          </a:prstGeom>
          <a:solidFill>
            <a:srgbClr val="E8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69881" y="2249424"/>
            <a:ext cx="201168" cy="201168"/>
          </a:xfrm>
          <a:prstGeom prst="ellipse">
            <a:avLst/>
          </a:prstGeom>
          <a:solidFill>
            <a:srgbClr val="728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9881" y="2633472"/>
            <a:ext cx="192627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285A5"/>
                </a:solidFill>
                <a:latin typeface="Poppins"/>
              </a:rPr>
              <a:t>WEEK 3 OR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9881" y="2889504"/>
            <a:ext cx="192627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21C2B"/>
                </a:solidFill>
                <a:latin typeface="Poppins"/>
              </a:rPr>
              <a:t>Check-in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9881" y="3218688"/>
            <a:ext cx="192627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B0603F"/>
                </a:solidFill>
                <a:latin typeface="Poppins"/>
              </a:rPr>
              <a:t>30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9881" y="3566160"/>
            <a:ext cx="1926275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How you've got on, any questions, and anything we can change to fit how you're using it.</a:t>
            </a:r>
          </a:p>
        </p:txBody>
      </p:sp>
      <p:sp>
        <p:nvSpPr>
          <p:cNvPr id="29" name="Oval 28"/>
          <p:cNvSpPr/>
          <p:nvPr/>
        </p:nvSpPr>
        <p:spPr>
          <a:xfrm>
            <a:off x="9607052" y="2249424"/>
            <a:ext cx="201168" cy="201168"/>
          </a:xfrm>
          <a:prstGeom prst="ellipse">
            <a:avLst/>
          </a:prstGeom>
          <a:solidFill>
            <a:srgbClr val="12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7052" y="2633472"/>
            <a:ext cx="192627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21C2B"/>
                </a:solidFill>
                <a:latin typeface="Poppins"/>
              </a:rPr>
              <a:t>WEEK 5 OR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7052" y="2889504"/>
            <a:ext cx="192627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21C2B"/>
                </a:solidFill>
                <a:latin typeface="Poppins"/>
              </a:rPr>
              <a:t>Final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7052" y="3218688"/>
            <a:ext cx="192627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B0603F"/>
                </a:solidFill>
                <a:latin typeface="Poppins"/>
              </a:rPr>
              <a:t>30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7052" y="3566160"/>
            <a:ext cx="1926275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How it went, and what we should do differently.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956048"/>
            <a:ext cx="1087495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50800" cy="841248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76" y="5221224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Inter"/>
              </a:rPr>
              <a:t>About an hour and a half on calls across the whole six weeks. Everything else is us.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455664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Sussex Emmaus · Zigbert · September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8927" y="64556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igber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365760"/>
            <a:ext cx="1371600" cy="411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B0603F"/>
                </a:solidFill>
                <a:latin typeface="Poppins"/>
              </a:rPr>
              <a:t>ONE THING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76656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121C2B"/>
                </a:solidFill>
                <a:latin typeface="Poppins"/>
              </a:rPr>
              <a:t>Quick one on the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887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Inter"/>
              </a:rPr>
              <a:t>The Sussex Emmaus file has 1, 2, 3 and 4 with nothing attached to them. Level is one of the four things we match on, so it's worth pinning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38528"/>
            <a:ext cx="48463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4846320" cy="50800"/>
          </a:xfrm>
          <a:prstGeom prst="rect">
            <a:avLst/>
          </a:prstGeom>
          <a:solidFill>
            <a:srgbClr val="728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7627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285A5"/>
                </a:solidFill>
                <a:latin typeface="Poppins"/>
              </a:rPr>
              <a:t>OURS RUNS 1 AT THE 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C9785A"/>
                </a:solidFill>
                <a:latin typeface="Poppi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596896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21C2B"/>
                </a:solidFill>
                <a:latin typeface="Inter"/>
              </a:rPr>
              <a:t>Director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61518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AA1AC"/>
                </a:solidFill>
                <a:latin typeface="Inter"/>
              </a:rPr>
              <a:t>most senior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540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C9785A"/>
                </a:solidFill>
                <a:latin typeface="Poppi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307238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21C2B"/>
                </a:solidFill>
                <a:latin typeface="Inter"/>
              </a:rPr>
              <a:t>Senior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95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C9785A"/>
                </a:solidFill>
                <a:latin typeface="Poppi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547872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21C2B"/>
                </a:solidFill>
                <a:latin typeface="Inter"/>
              </a:rPr>
              <a:t>Practitioner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C9785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02336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21C2B"/>
                </a:solidFill>
                <a:latin typeface="Inter"/>
              </a:rPr>
              <a:t>Junior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404164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AA1AC"/>
                </a:solidFill>
                <a:latin typeface="Inter"/>
              </a:rPr>
              <a:t>most junior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70448" y="1938528"/>
            <a:ext cx="566013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70448" y="1938528"/>
            <a:ext cx="5660136" cy="50800"/>
          </a:xfrm>
          <a:prstGeom prst="rect">
            <a:avLst/>
          </a:prstGeom>
          <a:solidFill>
            <a:srgbClr val="B0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17627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B0603F"/>
                </a:solidFill>
                <a:latin typeface="Poppins"/>
              </a:rPr>
              <a:t>WHY WE'RE ASKING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542032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00" b="1">
                <a:solidFill>
                  <a:srgbClr val="121C2B"/>
                </a:solidFill>
                <a:latin typeface="Inter"/>
              </a:rPr>
              <a:t>Plenty of places number the other way up. If yours does, a level 4 would get benchmarked against director pay.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On our own data that's about £27,000 against about £91,000 for the same person.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Just tell us whether 1 is the top or the bottom. Or send the job titles at each level and we'll sort it from those.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55664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Sussex Emmaus · Zigbert ·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556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igber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365760"/>
            <a:ext cx="1371600" cy="411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B0603F"/>
                </a:solidFill>
                <a:latin typeface="Poppins"/>
              </a:rPr>
              <a:t>IN THE MEANTIME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76656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121C2B"/>
                </a:solidFill>
                <a:latin typeface="Poppins"/>
              </a:rPr>
              <a:t>Have a poke around 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887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Inter"/>
              </a:rPr>
              <a:t>Same dashboard, different company. Everything works, so click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10512"/>
            <a:ext cx="10874959" cy="1371600"/>
          </a:xfrm>
          <a:prstGeom prst="rect">
            <a:avLst/>
          </a:prstGeom>
          <a:solidFill>
            <a:srgbClr val="12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63500" cy="13716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84832"/>
            <a:ext cx="105156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C9785A"/>
                </a:solidFill>
                <a:latin typeface="Poppins"/>
              </a:rPr>
              <a:t>THE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Poppins"/>
              </a:rPr>
              <a:t>twentysixconsulting.github.io/demo2-client-dashboard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56432"/>
            <a:ext cx="525459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479739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9AA1AC"/>
                </a:solidFill>
                <a:latin typeface="Poppins"/>
              </a:rPr>
              <a:t>USERNAME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79739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21C2B"/>
                </a:solidFill>
                <a:latin typeface="Poppins"/>
              </a:rPr>
              <a:t>demo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3456432"/>
            <a:ext cx="525459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4759" y="3657600"/>
            <a:ext cx="479739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9AA1AC"/>
                </a:solidFill>
                <a:latin typeface="Poppins"/>
              </a:rPr>
              <a:t>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4759" y="3931920"/>
            <a:ext cx="479739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21C2B"/>
                </a:solidFill>
                <a:latin typeface="Poppins"/>
              </a:rPr>
              <a:t>Demo26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690872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The numbers belong to a made-up company, so nothing in there is real pay data. It'll look the same with your roles in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Sussex Emmaus · Zigbert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18927" y="64556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igber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727" y="365760"/>
            <a:ext cx="1371600" cy="411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B0603F"/>
                </a:solidFill>
                <a:latin typeface="Poppins"/>
              </a:rPr>
              <a:t>OVER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76656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121C2B"/>
                </a:solidFill>
                <a:latin typeface="Poppins"/>
              </a:rPr>
              <a:t>Three things and we're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887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Inter"/>
              </a:rPr>
              <a:t>Only the levels hold anything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347258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19072"/>
            <a:ext cx="3472586" cy="50800"/>
          </a:xfrm>
          <a:prstGeom prst="rect">
            <a:avLst/>
          </a:prstGeom>
          <a:solidFill>
            <a:srgbClr val="C9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75104"/>
            <a:ext cx="299709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C9785A"/>
                </a:solidFill>
                <a:latin typeface="Poppins"/>
              </a:rPr>
              <a:t>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49424"/>
            <a:ext cx="299709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21C2B"/>
                </a:solidFill>
                <a:latin typeface="Poppins"/>
              </a:rPr>
              <a:t>The levels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51760"/>
            <a:ext cx="2997098" cy="1261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6B7280"/>
                </a:solidFill>
                <a:latin typeface="Inter"/>
              </a:rPr>
              <a:t>Whether 1 is the top or the bottom, or the job titles at each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9554" y="1719072"/>
            <a:ext cx="347258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9554" y="1719072"/>
            <a:ext cx="3472586" cy="50800"/>
          </a:xfrm>
          <a:prstGeom prst="rect">
            <a:avLst/>
          </a:prstGeom>
          <a:solidFill>
            <a:srgbClr val="728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7298" y="1975104"/>
            <a:ext cx="299709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285A5"/>
                </a:solidFill>
                <a:latin typeface="Poppins"/>
              </a:rPr>
              <a:t>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2249424"/>
            <a:ext cx="299709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21C2B"/>
                </a:solidFill>
                <a:latin typeface="Poppins"/>
              </a:rPr>
              <a:t>Do the dates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298" y="2651760"/>
            <a:ext cx="2997098" cy="1261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6B7280"/>
                </a:solidFill>
                <a:latin typeface="Inter"/>
              </a:rPr>
              <a:t>The 14th for the first session, then two shorter calls after.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0740" y="1719072"/>
            <a:ext cx="347258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0740" y="1719072"/>
            <a:ext cx="3472586" cy="50800"/>
          </a:xfrm>
          <a:prstGeom prst="rect">
            <a:avLst/>
          </a:prstGeom>
          <a:solidFill>
            <a:srgbClr val="12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8484" y="1975104"/>
            <a:ext cx="299709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21C2B"/>
                </a:solidFill>
                <a:latin typeface="Poppins"/>
              </a:rPr>
              <a:t>THREE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8484" y="2249424"/>
            <a:ext cx="299709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21C2B"/>
                </a:solidFill>
                <a:latin typeface="Poppins"/>
              </a:rPr>
              <a:t>Benefits or not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651760"/>
            <a:ext cx="2997098" cy="1261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Aft>
                <a:spcPts val="700"/>
              </a:spcAft>
            </a:pPr>
            <a:r>
              <a:rPr sz="1150" b="0">
                <a:solidFill>
                  <a:srgbClr val="6B7280"/>
                </a:solidFill>
                <a:latin typeface="Inter"/>
              </a:rPr>
              <a:t>We can benchmark what Sussex Emmaus offer and put it in alongside pay, no extra cost. Yes or no is enough for now.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389120"/>
            <a:ext cx="10874959" cy="822960"/>
          </a:xfrm>
          <a:prstGeom prst="rect">
            <a:avLst/>
          </a:prstGeom>
          <a:solidFill>
            <a:srgbClr val="E8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89120"/>
            <a:ext cx="50800" cy="822960"/>
          </a:xfrm>
          <a:prstGeom prst="rect">
            <a:avLst/>
          </a:prstGeom>
          <a:solidFill>
            <a:srgbClr val="B0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54296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6B4436"/>
                </a:solidFill>
                <a:latin typeface="Inter"/>
              </a:rPr>
              <a:t>Anything else, just give me a shout.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55664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Sussex Emmaus · Zigbert · September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556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AA1AC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